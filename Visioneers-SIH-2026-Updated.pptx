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ink/ink1.xml" ContentType="application/inkml+xml"/>
  <Override PartName="/ppt/ink/ink2.xml" ContentType="application/inkml+xml"/>
  <Override PartName="/ppt/ink/ink3.xml" ContentType="application/inkml+xml"/>
  <Override PartName="/ppt/media/image23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C0"/>
    <a:srgbClr val="96BEFC"/>
    <a:srgbClr val="991B1B"/>
    <a:srgbClr val="DC2626"/>
    <a:srgbClr val="FEF2F2"/>
    <a:srgbClr val="9A3412"/>
    <a:srgbClr val="EA580C"/>
    <a:srgbClr val="FFF7ED"/>
    <a:srgbClr val="FFF1F2"/>
    <a:srgbClr val="881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diagrams/_rels/data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image" Target="../media/image8.svg"/><Relationship Id="rId3" Type="http://schemas.openxmlformats.org/officeDocument/2006/relationships/image" Target="../media/image9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diagrams/_rels/drawing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image" Target="../media/image8.svg"/><Relationship Id="rId3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7BA551-7049-42EB-8249-16851A439AE0}" type="doc">
      <dgm:prSet loTypeId="urn:microsoft.com/office/officeart/2005/8/layout/bList2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en-IN"/>
        </a:p>
      </dgm:t>
    </dgm:pt>
    <dgm:pt modelId="{06EF59F2-DEA9-40D7-9665-AD6E19565F78}">
      <dgm:prSet phldrT="[Text]" custT="1"/>
      <dgm:spPr/>
      <dgm:t>
        <a:bodyPr/>
        <a:lstStyle/>
        <a:p>
          <a:pPr algn="ctr"/>
          <a:r>
            <a:rPr lang="en-US" sz="1400" dirty="0">
              <a:solidFill>
                <a:srgbClr val="FFFF00"/>
              </a:solidFill>
              <a:latin typeface="Sitka Text" pitchFamily="2" charset="0"/>
            </a:rPr>
            <a:t> </a:t>
          </a:r>
          <a:r>
            <a:rPr lang="en-IN" sz="1400" b="1" i="0" dirty="0">
              <a:solidFill>
                <a:srgbClr val="FFFF00"/>
              </a:solidFill>
              <a:latin typeface="Sitka Text" pitchFamily="2" charset="0"/>
            </a:rPr>
            <a:t>Multimodal Clinical </a:t>
          </a:r>
          <a:r>
            <a:rPr lang="en-IN" sz="1400" b="1" i="0" dirty="0">
              <a:solidFill>
                <a:srgbClr val="FFFF00"/>
              </a:solidFill>
            </a:rPr>
            <a:t>Fusion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A7B7503F-1145-4AF8-80CB-6F578134007F}" type="parTrans" cxnId="{5D71E27D-9411-4E56-AF3F-74699DA5B36A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66F9D054-7EA3-4F49-96CA-B29117AA886E}" type="sibTrans" cxnId="{5D71E27D-9411-4E56-AF3F-74699DA5B36A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808EED74-299B-4213-AA4B-418905A32471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IN" sz="1400" b="0" i="0" dirty="0"/>
            <a:t> Combines retinal fundus images with </a:t>
          </a:r>
          <a:r>
            <a:rPr lang="en-IN" sz="1400" b="1" i="0" dirty="0"/>
            <a:t>14 biomarkers</a:t>
          </a:r>
          <a:r>
            <a:rPr lang="en-IN" sz="1400" b="0" i="0" dirty="0"/>
            <a:t> and </a:t>
          </a:r>
          <a:r>
            <a:rPr lang="en-IN" sz="1400" b="1" i="0" dirty="0"/>
            <a:t>8 EMR parameters</a:t>
          </a:r>
          <a:r>
            <a:rPr lang="en-IN" sz="1400" b="0" i="0" dirty="0"/>
            <a:t> (HbA1c, BP, BMI). Multimodal fusion delivers a vastly superior clinical evaluation over basic image-only models. (NIH 25</a:t>
          </a:r>
          <a:endParaRPr lang="en-IN" sz="1400" dirty="0">
            <a:latin typeface="Sitka Text" pitchFamily="2" charset="0"/>
          </a:endParaRPr>
        </a:p>
      </dgm:t>
    </dgm:pt>
    <dgm:pt modelId="{8EA78F36-4B28-4AFE-84EB-D4CF19131C8D}" type="parTrans" cxnId="{23199712-9AE4-4E81-B2BD-9FA351A4286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89FEFABF-5C78-47A1-A26F-EED4393B4F81}" type="sibTrans" cxnId="{23199712-9AE4-4E81-B2BD-9FA351A4286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03A5109-BFFC-4E5A-887B-A440C83D11DD}">
      <dgm:prSet phldrT="[Text]" custT="1"/>
      <dgm:spPr/>
      <dgm:t>
        <a:bodyPr/>
        <a:lstStyle/>
        <a:p>
          <a:pPr algn="ctr"/>
          <a:r>
            <a:rPr lang="en-IN" sz="1400" b="1" i="0" dirty="0">
              <a:solidFill>
                <a:srgbClr val="FFFF00"/>
              </a:solidFill>
              <a:latin typeface="Sitka Text" pitchFamily="2" charset="0"/>
            </a:rPr>
            <a:t>Edge Quality Gate (IQA)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06A9D995-1A3E-43C2-A625-8BE201F027D2}" type="parTrans" cxnId="{7448AF61-BE95-4126-BFC0-2CB757704639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341353B-8D20-4160-9781-F87626718E53}" type="sibTrans" cxnId="{7448AF61-BE95-4126-BFC0-2CB757704639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0250EE1-AA31-4049-BFD6-7A59051255BB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IN" sz="1500" dirty="0">
              <a:latin typeface="Sitka Text" pitchFamily="2" charset="0"/>
            </a:rPr>
            <a:t>  </a:t>
          </a:r>
          <a:r>
            <a:rPr lang="en-IN" sz="1500" b="1" i="0" dirty="0"/>
            <a:t>3-tier edge quality check</a:t>
          </a:r>
          <a:r>
            <a:rPr lang="en-IN" sz="1500" b="0" i="0" dirty="0"/>
            <a:t> validates every scan at the rural PHC itself. Provides </a:t>
          </a:r>
          <a:r>
            <a:rPr lang="en-IN" sz="1500" b="1" i="0" dirty="0"/>
            <a:t>instant recapture feedback</a:t>
          </a:r>
          <a:r>
            <a:rPr lang="en-IN" sz="1500" b="0" i="0" dirty="0"/>
            <a:t> to untrained field operators before upload.</a:t>
          </a:r>
          <a:endParaRPr lang="en-IN" sz="1500" dirty="0">
            <a:latin typeface="Sitka Text" pitchFamily="2" charset="0"/>
          </a:endParaRPr>
        </a:p>
      </dgm:t>
    </dgm:pt>
    <dgm:pt modelId="{92E16B51-4E41-489B-A0C0-8AA9E4404920}" type="parTrans" cxnId="{EF9FF99D-57AE-40AA-AED6-0FDAB5C65DB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1EF265A6-483E-4388-A21E-C7594147D413}" type="sibTrans" cxnId="{EF9FF99D-57AE-40AA-AED6-0FDAB5C65DB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E4D3746A-1B82-42F5-BC84-4FC76B8D89C9}">
      <dgm:prSet phldrT="[Text]" custT="1"/>
      <dgm:spPr/>
      <dgm:t>
        <a:bodyPr/>
        <a:lstStyle/>
        <a:p>
          <a:pPr algn="ctr"/>
          <a:r>
            <a:rPr lang="en-IN" sz="1400" b="1" i="0" dirty="0">
              <a:solidFill>
                <a:srgbClr val="FFFF00"/>
              </a:solidFill>
              <a:latin typeface="Sitka Text" pitchFamily="2" charset="0"/>
            </a:rPr>
            <a:t>Hybrid Deep Learning Engine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F7056387-1CAA-459F-BC4B-4BF9D9216A52}" type="parTrans" cxnId="{011100E7-119D-458D-A137-9A90C88AFECB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7A817986-AA6A-4455-B719-44516157CEB9}" type="sibTrans" cxnId="{011100E7-119D-458D-A137-9A90C88AFECB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EEF0DF20-E5DA-4EDF-9D47-221DB0CE4467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 dirty="0">
              <a:latin typeface="Sitka Text" pitchFamily="2" charset="0"/>
            </a:rPr>
            <a:t> </a:t>
          </a:r>
          <a:r>
            <a:rPr lang="en-IN" sz="1400" b="1" i="0" dirty="0"/>
            <a:t>5-branch hybrid AI</a:t>
          </a:r>
          <a:r>
            <a:rPr lang="en-IN" sz="1400" b="0" i="0" dirty="0"/>
            <a:t> — </a:t>
          </a:r>
          <a:r>
            <a:rPr lang="en-IN" sz="1400" b="1" i="0" dirty="0" err="1"/>
            <a:t>EfficientNet</a:t>
          </a:r>
          <a:r>
            <a:rPr lang="en-IN" sz="1400" b="1" i="0" dirty="0"/>
            <a:t> + Swin-Transformer + Swin-</a:t>
          </a:r>
          <a:r>
            <a:rPr lang="en-IN" sz="1400" b="1" i="0" dirty="0" err="1"/>
            <a:t>UNet</a:t>
          </a:r>
          <a:r>
            <a:rPr lang="en-IN" sz="1400" b="1" i="0" dirty="0"/>
            <a:t> + </a:t>
          </a:r>
          <a:r>
            <a:rPr lang="en-IN" sz="1400" b="1" i="0" dirty="0" err="1"/>
            <a:t>Concat</a:t>
          </a:r>
          <a:r>
            <a:rPr lang="en-IN" sz="1400" b="1" i="0" dirty="0"/>
            <a:t>-U-Net + MLP — unified</a:t>
          </a:r>
          <a:r>
            <a:rPr lang="en-IN" sz="1400" b="0" i="0" dirty="0"/>
            <a:t> through </a:t>
          </a:r>
          <a:r>
            <a:rPr lang="en-IN" sz="1400" b="1" i="0" dirty="0"/>
            <a:t>Adaptive Gated Fusion</a:t>
          </a:r>
          <a:r>
            <a:rPr lang="en-IN" sz="1400" b="0" i="0" dirty="0"/>
            <a:t> and a </a:t>
          </a:r>
          <a:r>
            <a:rPr lang="en-IN" sz="1400" b="1" i="0" dirty="0"/>
            <a:t>stacking ensemble</a:t>
          </a:r>
          <a:r>
            <a:rPr lang="en-IN" sz="1400" b="0" i="0" dirty="0"/>
            <a:t> for 5-grade DR classification.</a:t>
          </a:r>
          <a:endParaRPr lang="en-IN" sz="1400" dirty="0">
            <a:latin typeface="Sitka Text" pitchFamily="2" charset="0"/>
          </a:endParaRPr>
        </a:p>
      </dgm:t>
    </dgm:pt>
    <dgm:pt modelId="{C160067A-16CE-4F1A-8985-C0D64DA11E9D}" type="parTrans" cxnId="{C711D214-1761-4FF3-8C83-AE7E2FD89E00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DF5BBB7A-3476-4C39-A692-70ADBFF04F1C}" type="sibTrans" cxnId="{C711D214-1761-4FF3-8C83-AE7E2FD89E00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A399487B-9EA5-4993-81DA-E2338CEBB8C5}">
      <dgm:prSet/>
      <dgm:spPr/>
      <dgm:t>
        <a:bodyPr/>
        <a:lstStyle/>
        <a:p>
          <a:pPr>
            <a:buNone/>
          </a:pPr>
          <a:endParaRPr lang="en-IN" sz="3600" dirty="0"/>
        </a:p>
      </dgm:t>
    </dgm:pt>
    <dgm:pt modelId="{6370AF3C-7C62-45B1-AFD5-42885B27FDE9}" type="parTrans" cxnId="{41452286-0B65-41FC-BFCE-B82A7741BA9A}">
      <dgm:prSet/>
      <dgm:spPr/>
      <dgm:t>
        <a:bodyPr/>
        <a:lstStyle/>
        <a:p>
          <a:endParaRPr lang="en-IN"/>
        </a:p>
      </dgm:t>
    </dgm:pt>
    <dgm:pt modelId="{F2D242E7-C924-4618-93F0-B55A36B87B65}" type="sibTrans" cxnId="{41452286-0B65-41FC-BFCE-B82A7741BA9A}">
      <dgm:prSet/>
      <dgm:spPr/>
      <dgm:t>
        <a:bodyPr/>
        <a:lstStyle/>
        <a:p>
          <a:endParaRPr lang="en-IN"/>
        </a:p>
      </dgm:t>
    </dgm:pt>
    <dgm:pt modelId="{9F6F0187-61BC-466C-8CB3-4A1A798615D1}" type="pres">
      <dgm:prSet presAssocID="{807BA551-7049-42EB-8249-16851A439AE0}" presName="diagram" presStyleCnt="0">
        <dgm:presLayoutVars>
          <dgm:dir/>
          <dgm:animLvl val="lvl"/>
          <dgm:resizeHandles val="exact"/>
        </dgm:presLayoutVars>
      </dgm:prSet>
      <dgm:spPr/>
    </dgm:pt>
    <dgm:pt modelId="{025FB245-34BF-427F-A282-4B5FF7DCAFD0}" type="pres">
      <dgm:prSet presAssocID="{06EF59F2-DEA9-40D7-9665-AD6E19565F78}" presName="compNode" presStyleCnt="0"/>
      <dgm:spPr/>
    </dgm:pt>
    <dgm:pt modelId="{E0448D61-0FBB-48B4-BBFF-6B4B66017897}" type="pres">
      <dgm:prSet presAssocID="{06EF59F2-DEA9-40D7-9665-AD6E19565F78}" presName="childRect" presStyleLbl="bgAcc1" presStyleIdx="0" presStyleCnt="3" custScaleY="103197" custLinFactNeighborX="-918">
        <dgm:presLayoutVars>
          <dgm:bulletEnabled val="1"/>
        </dgm:presLayoutVars>
      </dgm:prSet>
      <dgm:spPr/>
    </dgm:pt>
    <dgm:pt modelId="{2F83834C-08CE-4C49-A7C5-7421C61EFEFD}" type="pres">
      <dgm:prSet presAssocID="{06EF59F2-DEA9-40D7-9665-AD6E19565F7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690BF2E3-A656-446B-AB67-1DAAA5C187DB}" type="pres">
      <dgm:prSet presAssocID="{06EF59F2-DEA9-40D7-9665-AD6E19565F78}" presName="parentRect" presStyleLbl="alignNode1" presStyleIdx="0" presStyleCnt="3" custLinFactNeighborX="-918"/>
      <dgm:spPr/>
    </dgm:pt>
    <dgm:pt modelId="{FC17AE29-A935-4C07-8F28-3A34E9E848E6}" type="pres">
      <dgm:prSet presAssocID="{06EF59F2-DEA9-40D7-9665-AD6E19565F78}" presName="adorn" presStyleLbl="fgAccFollowNode1" presStyleIdx="0" presStyleCnt="3"/>
      <dgm:spPr>
        <a:blipFill>
          <a:blip xmlns:r="http://schemas.openxmlformats.org/officeDocument/2006/relationships" r:embed="rId1">
            <a:duotone>
              <a:schemeClr val="accent3">
                <a:alpha val="90000"/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3">
                <a:alpha val="90000"/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36000" r="-36000"/>
          </a:stretch>
        </a:blipFill>
      </dgm:spPr>
    </dgm:pt>
    <dgm:pt modelId="{57D8328B-D52A-4B28-BF38-D3D4653BFE98}" type="pres">
      <dgm:prSet presAssocID="{66F9D054-7EA3-4F49-96CA-B29117AA886E}" presName="sibTrans" presStyleLbl="sibTrans2D1" presStyleIdx="0" presStyleCnt="0"/>
      <dgm:spPr/>
    </dgm:pt>
    <dgm:pt modelId="{816DA013-8BB7-41F1-993D-211F6E1FF8C2}" type="pres">
      <dgm:prSet presAssocID="{203A5109-BFFC-4E5A-887B-A440C83D11DD}" presName="compNode" presStyleCnt="0"/>
      <dgm:spPr/>
    </dgm:pt>
    <dgm:pt modelId="{55152D2D-3D10-4329-B39E-E53FB0076425}" type="pres">
      <dgm:prSet presAssocID="{203A5109-BFFC-4E5A-887B-A440C83D11DD}" presName="childRect" presStyleLbl="bgAcc1" presStyleIdx="1" presStyleCnt="3" custLinFactNeighborX="-918">
        <dgm:presLayoutVars>
          <dgm:bulletEnabled val="1"/>
        </dgm:presLayoutVars>
      </dgm:prSet>
      <dgm:spPr/>
    </dgm:pt>
    <dgm:pt modelId="{49D71AEC-7749-486B-8C02-4D9F28DE5B38}" type="pres">
      <dgm:prSet presAssocID="{203A5109-BFFC-4E5A-887B-A440C83D11D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C918BAF-6F09-4021-A849-B3967925985E}" type="pres">
      <dgm:prSet presAssocID="{203A5109-BFFC-4E5A-887B-A440C83D11DD}" presName="parentRect" presStyleLbl="alignNode1" presStyleIdx="1" presStyleCnt="3" custLinFactNeighborX="-918"/>
      <dgm:spPr/>
    </dgm:pt>
    <dgm:pt modelId="{5FC99E48-5A0D-4D3B-ABE3-E687D2BD5A19}" type="pres">
      <dgm:prSet presAssocID="{203A5109-BFFC-4E5A-887B-A440C83D11DD}" presName="adorn" presStyleLbl="fgAccFollowNode1" presStyleIdx="1" presStyleCnt="3"/>
      <dgm:spPr>
        <a:blipFill>
          <a:blip xmlns:r="http://schemas.openxmlformats.org/officeDocument/2006/relationships" r:embed="rId2">
            <a:duotone>
              <a:schemeClr val="accent3">
                <a:alpha val="90000"/>
                <a:hueOff val="5358427"/>
                <a:satOff val="-6896"/>
                <a:lumOff val="-537"/>
                <a:alphaOff val="0"/>
                <a:shade val="20000"/>
                <a:satMod val="200000"/>
              </a:schemeClr>
              <a:schemeClr val="accent3">
                <a:alpha val="90000"/>
                <a:hueOff val="5358427"/>
                <a:satOff val="-6896"/>
                <a:lumOff val="-537"/>
                <a:alphaOff val="0"/>
                <a:tint val="12000"/>
                <a:satMod val="190000"/>
              </a:schemeClr>
            </a:duotone>
          </a:blip>
          <a:srcRect/>
          <a:stretch>
            <a:fillRect l="-34000" r="-34000"/>
          </a:stretch>
        </a:blipFill>
      </dgm:spPr>
    </dgm:pt>
    <dgm:pt modelId="{DCD9BBB5-B795-44EB-B14F-535640F3D401}" type="pres">
      <dgm:prSet presAssocID="{2341353B-8D20-4160-9781-F87626718E53}" presName="sibTrans" presStyleLbl="sibTrans2D1" presStyleIdx="0" presStyleCnt="0"/>
      <dgm:spPr/>
    </dgm:pt>
    <dgm:pt modelId="{75B3410A-CD6A-4A0D-AFB0-8ECEB3662E83}" type="pres">
      <dgm:prSet presAssocID="{E4D3746A-1B82-42F5-BC84-4FC76B8D89C9}" presName="compNode" presStyleCnt="0"/>
      <dgm:spPr/>
    </dgm:pt>
    <dgm:pt modelId="{C21317E3-DA3F-4F96-A86C-E46693A828E0}" type="pres">
      <dgm:prSet presAssocID="{E4D3746A-1B82-42F5-BC84-4FC76B8D89C9}" presName="childRect" presStyleLbl="bgAcc1" presStyleIdx="2" presStyleCnt="3" custScaleX="104883" custScaleY="103203" custLinFactNeighborX="-464">
        <dgm:presLayoutVars>
          <dgm:bulletEnabled val="1"/>
        </dgm:presLayoutVars>
      </dgm:prSet>
      <dgm:spPr/>
    </dgm:pt>
    <dgm:pt modelId="{211A1C48-62FC-4ECE-8652-19842F70DA77}" type="pres">
      <dgm:prSet presAssocID="{E4D3746A-1B82-42F5-BC84-4FC76B8D89C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364EAB2-EC2B-4D24-9F13-B66987013F32}" type="pres">
      <dgm:prSet presAssocID="{E4D3746A-1B82-42F5-BC84-4FC76B8D89C9}" presName="parentRect" presStyleLbl="alignNode1" presStyleIdx="2" presStyleCnt="3" custLinFactNeighborX="-918"/>
      <dgm:spPr/>
    </dgm:pt>
    <dgm:pt modelId="{0F351AFD-9EA5-471A-B0A8-186ACC416CD8}" type="pres">
      <dgm:prSet presAssocID="{E4D3746A-1B82-42F5-BC84-4FC76B8D89C9}" presName="adorn" presStyleLbl="fgAccFollowNode1" presStyleIdx="2" presStyleCnt="3"/>
      <dgm:spPr>
        <a:blipFill>
          <a:blip xmlns:r="http://schemas.openxmlformats.org/officeDocument/2006/relationships" r:embed="rId3">
            <a:duotone>
              <a:schemeClr val="accent3">
                <a:alpha val="90000"/>
                <a:hueOff val="10716854"/>
                <a:satOff val="-13793"/>
                <a:lumOff val="-1075"/>
                <a:alphaOff val="0"/>
                <a:shade val="20000"/>
                <a:satMod val="200000"/>
              </a:schemeClr>
              <a:schemeClr val="accent3">
                <a:alpha val="90000"/>
                <a:hueOff val="10716854"/>
                <a:satOff val="-13793"/>
                <a:lumOff val="-1075"/>
                <a:alphaOff val="0"/>
                <a:tint val="12000"/>
                <a:satMod val="190000"/>
              </a:schemeClr>
            </a:duotone>
          </a:blip>
          <a:srcRect/>
          <a:stretch>
            <a:fillRect l="-39000" r="-39000"/>
          </a:stretch>
        </a:blipFill>
      </dgm:spPr>
      <dgm:extLst>
        <a:ext uri="{E40237B7-FDA0-4F09-8148-C483321AD2D9}">
          <dgm14:cNvPr xmlns:dgm14="http://schemas.microsoft.com/office/drawing/2010/diagram" id="0" name="" descr="CPU with binary numbers and blueprint"/>
        </a:ext>
      </dgm:extLst>
    </dgm:pt>
  </dgm:ptLst>
  <dgm:cxnLst>
    <dgm:cxn modelId="{44906B04-03E8-4FB4-9675-5FA089E8FD0D}" type="presOf" srcId="{807BA551-7049-42EB-8249-16851A439AE0}" destId="{9F6F0187-61BC-466C-8CB3-4A1A798615D1}" srcOrd="0" destOrd="0" presId="urn:microsoft.com/office/officeart/2005/8/layout/bList2"/>
    <dgm:cxn modelId="{23199712-9AE4-4E81-B2BD-9FA351A42867}" srcId="{06EF59F2-DEA9-40D7-9665-AD6E19565F78}" destId="{808EED74-299B-4213-AA4B-418905A32471}" srcOrd="0" destOrd="0" parTransId="{8EA78F36-4B28-4AFE-84EB-D4CF19131C8D}" sibTransId="{89FEFABF-5C78-47A1-A26F-EED4393B4F81}"/>
    <dgm:cxn modelId="{C711D214-1761-4FF3-8C83-AE7E2FD89E00}" srcId="{E4D3746A-1B82-42F5-BC84-4FC76B8D89C9}" destId="{EEF0DF20-E5DA-4EDF-9D47-221DB0CE4467}" srcOrd="0" destOrd="0" parTransId="{C160067A-16CE-4F1A-8985-C0D64DA11E9D}" sibTransId="{DF5BBB7A-3476-4C39-A692-70ADBFF04F1C}"/>
    <dgm:cxn modelId="{C166A531-CDCB-41C6-8AA4-E3B32B908DE8}" type="presOf" srcId="{66F9D054-7EA3-4F49-96CA-B29117AA886E}" destId="{57D8328B-D52A-4B28-BF38-D3D4653BFE98}" srcOrd="0" destOrd="0" presId="urn:microsoft.com/office/officeart/2005/8/layout/bList2"/>
    <dgm:cxn modelId="{E6000336-F82F-4F88-B0FA-51B9AC92C833}" type="presOf" srcId="{EEF0DF20-E5DA-4EDF-9D47-221DB0CE4467}" destId="{C21317E3-DA3F-4F96-A86C-E46693A828E0}" srcOrd="0" destOrd="0" presId="urn:microsoft.com/office/officeart/2005/8/layout/bList2"/>
    <dgm:cxn modelId="{FCCA425F-22A4-4EB8-B3CE-6428119F10C7}" type="presOf" srcId="{203A5109-BFFC-4E5A-887B-A440C83D11DD}" destId="{CC918BAF-6F09-4021-A849-B3967925985E}" srcOrd="1" destOrd="0" presId="urn:microsoft.com/office/officeart/2005/8/layout/bList2"/>
    <dgm:cxn modelId="{7448AF61-BE95-4126-BFC0-2CB757704639}" srcId="{807BA551-7049-42EB-8249-16851A439AE0}" destId="{203A5109-BFFC-4E5A-887B-A440C83D11DD}" srcOrd="1" destOrd="0" parTransId="{06A9D995-1A3E-43C2-A625-8BE201F027D2}" sibTransId="{2341353B-8D20-4160-9781-F87626718E53}"/>
    <dgm:cxn modelId="{77481442-B7EF-4535-89F1-78E27B50B1E7}" type="presOf" srcId="{E4D3746A-1B82-42F5-BC84-4FC76B8D89C9}" destId="{4364EAB2-EC2B-4D24-9F13-B66987013F32}" srcOrd="1" destOrd="0" presId="urn:microsoft.com/office/officeart/2005/8/layout/bList2"/>
    <dgm:cxn modelId="{4DE4EF44-0FF0-4D59-8267-9ACF0B511369}" type="presOf" srcId="{E4D3746A-1B82-42F5-BC84-4FC76B8D89C9}" destId="{211A1C48-62FC-4ECE-8652-19842F70DA77}" srcOrd="0" destOrd="0" presId="urn:microsoft.com/office/officeart/2005/8/layout/bList2"/>
    <dgm:cxn modelId="{10B1034E-9AFE-4D2A-B7AE-A2CDECCA2B30}" type="presOf" srcId="{203A5109-BFFC-4E5A-887B-A440C83D11DD}" destId="{49D71AEC-7749-486B-8C02-4D9F28DE5B38}" srcOrd="0" destOrd="0" presId="urn:microsoft.com/office/officeart/2005/8/layout/bList2"/>
    <dgm:cxn modelId="{D1DB3C75-F0EC-4E1E-BA9A-ABCD073F624F}" type="presOf" srcId="{06EF59F2-DEA9-40D7-9665-AD6E19565F78}" destId="{690BF2E3-A656-446B-AB67-1DAAA5C187DB}" srcOrd="1" destOrd="0" presId="urn:microsoft.com/office/officeart/2005/8/layout/bList2"/>
    <dgm:cxn modelId="{EDC40078-C99F-4A19-A73C-03EE552FD03C}" type="presOf" srcId="{2341353B-8D20-4160-9781-F87626718E53}" destId="{DCD9BBB5-B795-44EB-B14F-535640F3D401}" srcOrd="0" destOrd="0" presId="urn:microsoft.com/office/officeart/2005/8/layout/bList2"/>
    <dgm:cxn modelId="{5D71E27D-9411-4E56-AF3F-74699DA5B36A}" srcId="{807BA551-7049-42EB-8249-16851A439AE0}" destId="{06EF59F2-DEA9-40D7-9665-AD6E19565F78}" srcOrd="0" destOrd="0" parTransId="{A7B7503F-1145-4AF8-80CB-6F578134007F}" sibTransId="{66F9D054-7EA3-4F49-96CA-B29117AA886E}"/>
    <dgm:cxn modelId="{41452286-0B65-41FC-BFCE-B82A7741BA9A}" srcId="{06EF59F2-DEA9-40D7-9665-AD6E19565F78}" destId="{A399487B-9EA5-4993-81DA-E2338CEBB8C5}" srcOrd="1" destOrd="0" parTransId="{6370AF3C-7C62-45B1-AFD5-42885B27FDE9}" sibTransId="{F2D242E7-C924-4618-93F0-B55A36B87B65}"/>
    <dgm:cxn modelId="{EF9FF99D-57AE-40AA-AED6-0FDAB5C65DB7}" srcId="{203A5109-BFFC-4E5A-887B-A440C83D11DD}" destId="{20250EE1-AA31-4049-BFD6-7A59051255BB}" srcOrd="0" destOrd="0" parTransId="{92E16B51-4E41-489B-A0C0-8AA9E4404920}" sibTransId="{1EF265A6-483E-4388-A21E-C7594147D413}"/>
    <dgm:cxn modelId="{7BD6AB9E-0E4B-40E0-A89F-D4AE9A952116}" type="presOf" srcId="{A399487B-9EA5-4993-81DA-E2338CEBB8C5}" destId="{E0448D61-0FBB-48B4-BBFF-6B4B66017897}" srcOrd="0" destOrd="1" presId="urn:microsoft.com/office/officeart/2005/8/layout/bList2"/>
    <dgm:cxn modelId="{170CDBA9-0F93-4DE0-BB63-34D2026D2011}" type="presOf" srcId="{20250EE1-AA31-4049-BFD6-7A59051255BB}" destId="{55152D2D-3D10-4329-B39E-E53FB0076425}" srcOrd="0" destOrd="0" presId="urn:microsoft.com/office/officeart/2005/8/layout/bList2"/>
    <dgm:cxn modelId="{2E2879BE-A717-4ED8-83C1-0C603DA6C024}" type="presOf" srcId="{808EED74-299B-4213-AA4B-418905A32471}" destId="{E0448D61-0FBB-48B4-BBFF-6B4B66017897}" srcOrd="0" destOrd="0" presId="urn:microsoft.com/office/officeart/2005/8/layout/bList2"/>
    <dgm:cxn modelId="{17A2ACE2-5D87-4DAB-B6B7-3072A9071B80}" type="presOf" srcId="{06EF59F2-DEA9-40D7-9665-AD6E19565F78}" destId="{2F83834C-08CE-4C49-A7C5-7421C61EFEFD}" srcOrd="0" destOrd="0" presId="urn:microsoft.com/office/officeart/2005/8/layout/bList2"/>
    <dgm:cxn modelId="{011100E7-119D-458D-A137-9A90C88AFECB}" srcId="{807BA551-7049-42EB-8249-16851A439AE0}" destId="{E4D3746A-1B82-42F5-BC84-4FC76B8D89C9}" srcOrd="2" destOrd="0" parTransId="{F7056387-1CAA-459F-BC4B-4BF9D9216A52}" sibTransId="{7A817986-AA6A-4455-B719-44516157CEB9}"/>
    <dgm:cxn modelId="{6703C2D2-0A25-477A-88A3-981C8AF9A722}" type="presParOf" srcId="{9F6F0187-61BC-466C-8CB3-4A1A798615D1}" destId="{025FB245-34BF-427F-A282-4B5FF7DCAFD0}" srcOrd="0" destOrd="0" presId="urn:microsoft.com/office/officeart/2005/8/layout/bList2"/>
    <dgm:cxn modelId="{14D50AA8-35E5-4EA9-81BA-3E776B215DD2}" type="presParOf" srcId="{025FB245-34BF-427F-A282-4B5FF7DCAFD0}" destId="{E0448D61-0FBB-48B4-BBFF-6B4B66017897}" srcOrd="0" destOrd="0" presId="urn:microsoft.com/office/officeart/2005/8/layout/bList2"/>
    <dgm:cxn modelId="{CE31233A-C4BF-47B3-B088-C19346A3C3B9}" type="presParOf" srcId="{025FB245-34BF-427F-A282-4B5FF7DCAFD0}" destId="{2F83834C-08CE-4C49-A7C5-7421C61EFEFD}" srcOrd="1" destOrd="0" presId="urn:microsoft.com/office/officeart/2005/8/layout/bList2"/>
    <dgm:cxn modelId="{9D25BE34-9FCD-4723-8CCB-7ED96DE1D539}" type="presParOf" srcId="{025FB245-34BF-427F-A282-4B5FF7DCAFD0}" destId="{690BF2E3-A656-446B-AB67-1DAAA5C187DB}" srcOrd="2" destOrd="0" presId="urn:microsoft.com/office/officeart/2005/8/layout/bList2"/>
    <dgm:cxn modelId="{3D62FA47-E99E-40FE-B7A1-7B200E27BB07}" type="presParOf" srcId="{025FB245-34BF-427F-A282-4B5FF7DCAFD0}" destId="{FC17AE29-A935-4C07-8F28-3A34E9E848E6}" srcOrd="3" destOrd="0" presId="urn:microsoft.com/office/officeart/2005/8/layout/bList2"/>
    <dgm:cxn modelId="{86709C9C-FD13-4A83-9F12-62BE7A8BB005}" type="presParOf" srcId="{9F6F0187-61BC-466C-8CB3-4A1A798615D1}" destId="{57D8328B-D52A-4B28-BF38-D3D4653BFE98}" srcOrd="1" destOrd="0" presId="urn:microsoft.com/office/officeart/2005/8/layout/bList2"/>
    <dgm:cxn modelId="{6AF73D82-A755-467F-85BF-18D0CC032B7C}" type="presParOf" srcId="{9F6F0187-61BC-466C-8CB3-4A1A798615D1}" destId="{816DA013-8BB7-41F1-993D-211F6E1FF8C2}" srcOrd="2" destOrd="0" presId="urn:microsoft.com/office/officeart/2005/8/layout/bList2"/>
    <dgm:cxn modelId="{FA4C4A12-FDED-44AF-8776-C4CCD67D6A59}" type="presParOf" srcId="{816DA013-8BB7-41F1-993D-211F6E1FF8C2}" destId="{55152D2D-3D10-4329-B39E-E53FB0076425}" srcOrd="0" destOrd="0" presId="urn:microsoft.com/office/officeart/2005/8/layout/bList2"/>
    <dgm:cxn modelId="{89D24B85-5D16-4361-B09F-EF0FE5A20F50}" type="presParOf" srcId="{816DA013-8BB7-41F1-993D-211F6E1FF8C2}" destId="{49D71AEC-7749-486B-8C02-4D9F28DE5B38}" srcOrd="1" destOrd="0" presId="urn:microsoft.com/office/officeart/2005/8/layout/bList2"/>
    <dgm:cxn modelId="{FE051BB0-83FC-4AA6-962B-816893AE440A}" type="presParOf" srcId="{816DA013-8BB7-41F1-993D-211F6E1FF8C2}" destId="{CC918BAF-6F09-4021-A849-B3967925985E}" srcOrd="2" destOrd="0" presId="urn:microsoft.com/office/officeart/2005/8/layout/bList2"/>
    <dgm:cxn modelId="{8DEE8E28-E8B4-4252-A49F-B140AA382077}" type="presParOf" srcId="{816DA013-8BB7-41F1-993D-211F6E1FF8C2}" destId="{5FC99E48-5A0D-4D3B-ABE3-E687D2BD5A19}" srcOrd="3" destOrd="0" presId="urn:microsoft.com/office/officeart/2005/8/layout/bList2"/>
    <dgm:cxn modelId="{85A130F7-E15C-4AF0-8F79-7D046E95105E}" type="presParOf" srcId="{9F6F0187-61BC-466C-8CB3-4A1A798615D1}" destId="{DCD9BBB5-B795-44EB-B14F-535640F3D401}" srcOrd="3" destOrd="0" presId="urn:microsoft.com/office/officeart/2005/8/layout/bList2"/>
    <dgm:cxn modelId="{5A00C9A9-9097-482E-BB60-3E5D8793108C}" type="presParOf" srcId="{9F6F0187-61BC-466C-8CB3-4A1A798615D1}" destId="{75B3410A-CD6A-4A0D-AFB0-8ECEB3662E83}" srcOrd="4" destOrd="0" presId="urn:microsoft.com/office/officeart/2005/8/layout/bList2"/>
    <dgm:cxn modelId="{53193EDC-5488-483C-B3AD-8D5958B2FBD2}" type="presParOf" srcId="{75B3410A-CD6A-4A0D-AFB0-8ECEB3662E83}" destId="{C21317E3-DA3F-4F96-A86C-E46693A828E0}" srcOrd="0" destOrd="0" presId="urn:microsoft.com/office/officeart/2005/8/layout/bList2"/>
    <dgm:cxn modelId="{453BB77E-3383-477A-BC21-E23A0C305F31}" type="presParOf" srcId="{75B3410A-CD6A-4A0D-AFB0-8ECEB3662E83}" destId="{211A1C48-62FC-4ECE-8652-19842F70DA77}" srcOrd="1" destOrd="0" presId="urn:microsoft.com/office/officeart/2005/8/layout/bList2"/>
    <dgm:cxn modelId="{13916B5A-EC8D-4C29-9958-EB7BC9CFD90B}" type="presParOf" srcId="{75B3410A-CD6A-4A0D-AFB0-8ECEB3662E83}" destId="{4364EAB2-EC2B-4D24-9F13-B66987013F32}" srcOrd="2" destOrd="0" presId="urn:microsoft.com/office/officeart/2005/8/layout/bList2"/>
    <dgm:cxn modelId="{959CC896-2017-4D19-8FD2-09591305E63E}" type="presParOf" srcId="{75B3410A-CD6A-4A0D-AFB0-8ECEB3662E83}" destId="{0F351AFD-9EA5-471A-B0A8-186ACC416CD8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7BA551-7049-42EB-8249-16851A439AE0}" type="doc">
      <dgm:prSet loTypeId="urn:microsoft.com/office/officeart/2005/8/layout/bList2" loCatId="list" qsTypeId="urn:microsoft.com/office/officeart/2005/8/quickstyle/simple1#2" qsCatId="simple" csTypeId="urn:microsoft.com/office/officeart/2005/8/colors/colorful2#1" csCatId="colorful" phldr="1"/>
      <dgm:spPr/>
      <dgm:t>
        <a:bodyPr/>
        <a:lstStyle/>
        <a:p>
          <a:endParaRPr lang="en-IN"/>
        </a:p>
      </dgm:t>
    </dgm:pt>
    <dgm:pt modelId="{06EF59F2-DEA9-40D7-9665-AD6E19565F78}">
      <dgm:prSet phldrT="[Text]" custT="1"/>
      <dgm:spPr/>
      <dgm:t>
        <a:bodyPr/>
        <a:lstStyle/>
        <a:p>
          <a:pPr algn="ctr"/>
          <a:r>
            <a:rPr lang="en-IN" sz="1400" b="1" i="0" dirty="0">
              <a:solidFill>
                <a:srgbClr val="FFFF00"/>
              </a:solidFill>
              <a:latin typeface="Sitka Text" pitchFamily="2" charset="0"/>
            </a:rPr>
            <a:t>Explainable &amp; Verifiable AI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A7B7503F-1145-4AF8-80CB-6F578134007F}" type="parTrans" cxnId="{5D71E27D-9411-4E56-AF3F-74699DA5B36A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66F9D054-7EA3-4F49-96CA-B29117AA886E}" type="sibTrans" cxnId="{5D71E27D-9411-4E56-AF3F-74699DA5B36A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808EED74-299B-4213-AA4B-418905A32471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IN" sz="1500" b="0" i="0" dirty="0"/>
            <a:t> </a:t>
          </a:r>
          <a:r>
            <a:rPr lang="en-IN" sz="1400" b="1" i="0" dirty="0"/>
            <a:t>Grad-CAM++, LIME &amp; SHAP</a:t>
          </a:r>
          <a:r>
            <a:rPr lang="en-IN" sz="1400" b="0" i="0" dirty="0"/>
            <a:t> provide visual proof for every prediction. A novel </a:t>
          </a:r>
          <a:r>
            <a:rPr lang="en-IN" sz="1400" b="1" i="0" dirty="0"/>
            <a:t>Lesion Alignment Check</a:t>
          </a:r>
          <a:r>
            <a:rPr lang="en-IN" sz="1400" b="0" i="0" dirty="0"/>
            <a:t> (Dice/</a:t>
          </a:r>
          <a:r>
            <a:rPr lang="en-IN" sz="1400" b="0" i="0" dirty="0" err="1"/>
            <a:t>IoU</a:t>
          </a:r>
          <a:r>
            <a:rPr lang="en-IN" sz="1400" b="0" i="0" dirty="0"/>
            <a:t>) verifies AI attention matches real pathology.</a:t>
          </a:r>
          <a:endParaRPr lang="en-IN" sz="1400" dirty="0">
            <a:latin typeface="Sitka Text" pitchFamily="2" charset="0"/>
          </a:endParaRPr>
        </a:p>
      </dgm:t>
    </dgm:pt>
    <dgm:pt modelId="{8EA78F36-4B28-4AFE-84EB-D4CF19131C8D}" type="parTrans" cxnId="{23199712-9AE4-4E81-B2BD-9FA351A4286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89FEFABF-5C78-47A1-A26F-EED4393B4F81}" type="sibTrans" cxnId="{23199712-9AE4-4E81-B2BD-9FA351A4286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03A5109-BFFC-4E5A-887B-A440C83D11DD}">
      <dgm:prSet phldrT="[Text]" custT="1"/>
      <dgm:spPr/>
      <dgm:t>
        <a:bodyPr/>
        <a:lstStyle/>
        <a:p>
          <a:pPr algn="ctr"/>
          <a:r>
            <a:rPr lang="en-IN" sz="1400" b="1" i="0" dirty="0">
              <a:solidFill>
                <a:srgbClr val="FFFF00"/>
              </a:solidFill>
              <a:latin typeface="Sitka Text" pitchFamily="2" charset="0"/>
            </a:rPr>
            <a:t>Calibrated Trust &amp; Uncertainty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06A9D995-1A3E-43C2-A625-8BE201F027D2}" type="parTrans" cxnId="{7448AF61-BE95-4126-BFC0-2CB757704639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341353B-8D20-4160-9781-F87626718E53}" type="sibTrans" cxnId="{7448AF61-BE95-4126-BFC0-2CB757704639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0250EE1-AA31-4049-BFD6-7A59051255BB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IN" sz="1400" b="0" i="0" dirty="0"/>
            <a:t> The system </a:t>
          </a:r>
          <a:r>
            <a:rPr lang="en-IN" sz="1400" b="1" i="0" dirty="0"/>
            <a:t>knows when it is unsure</a:t>
          </a:r>
          <a:r>
            <a:rPr lang="en-IN" sz="1400" b="0" i="0" dirty="0"/>
            <a:t>. Built-in confidence calibration and </a:t>
          </a:r>
          <a:r>
            <a:rPr lang="en-IN" sz="1400" b="1" i="0" dirty="0"/>
            <a:t>multi-pass uncertainty detection</a:t>
          </a:r>
          <a:r>
            <a:rPr lang="en-IN" sz="1400" b="0" i="0" dirty="0"/>
            <a:t> auto-flag doubtful cases for mandatory specialist review ensuring zero silent misses.</a:t>
          </a:r>
          <a:endParaRPr lang="en-IN" sz="1400" dirty="0">
            <a:latin typeface="Sitka Text" pitchFamily="2" charset="0"/>
          </a:endParaRPr>
        </a:p>
      </dgm:t>
    </dgm:pt>
    <dgm:pt modelId="{92E16B51-4E41-489B-A0C0-8AA9E4404920}" type="parTrans" cxnId="{EF9FF99D-57AE-40AA-AED6-0FDAB5C65DB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1EF265A6-483E-4388-A21E-C7594147D413}" type="sibTrans" cxnId="{EF9FF99D-57AE-40AA-AED6-0FDAB5C65DB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E4D3746A-1B82-42F5-BC84-4FC76B8D89C9}">
      <dgm:prSet phldrT="[Text]" custT="1"/>
      <dgm:spPr/>
      <dgm:t>
        <a:bodyPr/>
        <a:lstStyle/>
        <a:p>
          <a:pPr algn="ctr"/>
          <a:r>
            <a:rPr lang="en-IN" sz="1400" b="1" i="0" dirty="0">
              <a:solidFill>
                <a:srgbClr val="FFFF00"/>
              </a:solidFill>
              <a:latin typeface="Sitka Text" pitchFamily="2" charset="0"/>
            </a:rPr>
            <a:t>Smart District Tele-Triage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F7056387-1CAA-459F-BC4B-4BF9D9216A52}" type="parTrans" cxnId="{011100E7-119D-458D-A137-9A90C88AFECB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7A817986-AA6A-4455-B719-44516157CEB9}" type="sibTrans" cxnId="{011100E7-119D-458D-A137-9A90C88AFECB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EEF0DF20-E5DA-4EDF-9D47-221DB0CE4467}">
      <dgm:prSet phldrT="[Text]" custT="1"/>
      <dgm:spPr/>
      <dgm:t>
        <a:bodyPr/>
        <a:lstStyle/>
        <a:p>
          <a:pPr algn="l">
            <a:buFont typeface="Wingdings" panose="05000000000000000000" pitchFamily="2" charset="2"/>
            <a:buChar char="v"/>
          </a:pPr>
          <a:r>
            <a:rPr lang="en-IN" sz="1300" b="0" i="0" dirty="0"/>
            <a:t> </a:t>
          </a:r>
          <a:r>
            <a:rPr lang="en-IN" sz="1400" b="0" i="0" dirty="0"/>
            <a:t>Rural PHCs become </a:t>
          </a:r>
          <a:r>
            <a:rPr lang="en-IN" sz="1400" b="1" i="0" dirty="0"/>
            <a:t>intelligent screening nodes</a:t>
          </a:r>
          <a:r>
            <a:rPr lang="en-IN" sz="1400" b="0" i="0" dirty="0"/>
            <a:t>. Normal cases cleared locally, severe cases </a:t>
          </a:r>
          <a:r>
            <a:rPr lang="en-IN" sz="1400" b="1" i="0" dirty="0"/>
            <a:t>priority-queued</a:t>
          </a:r>
          <a:r>
            <a:rPr lang="en-IN" sz="1400" b="0" i="0" dirty="0"/>
            <a:t> to a </a:t>
          </a:r>
          <a:r>
            <a:rPr lang="en-IN" sz="1400" b="1" i="0" dirty="0"/>
            <a:t>30-second doctor dashboard</a:t>
          </a:r>
          <a:r>
            <a:rPr lang="en-IN" sz="1400" b="0" i="0" dirty="0"/>
            <a:t> at the district hospital.</a:t>
          </a:r>
          <a:endParaRPr lang="en-IN" sz="1400" dirty="0">
            <a:latin typeface="Sitka Text" pitchFamily="2" charset="0"/>
          </a:endParaRPr>
        </a:p>
      </dgm:t>
    </dgm:pt>
    <dgm:pt modelId="{C160067A-16CE-4F1A-8985-C0D64DA11E9D}" type="parTrans" cxnId="{C711D214-1761-4FF3-8C83-AE7E2FD89E00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DF5BBB7A-3476-4C39-A692-70ADBFF04F1C}" type="sibTrans" cxnId="{C711D214-1761-4FF3-8C83-AE7E2FD89E00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53457070-3D10-4AA4-9A3F-1DD7324C250E}">
      <dgm:prSet/>
      <dgm:spPr/>
      <dgm:t>
        <a:bodyPr/>
        <a:lstStyle/>
        <a:p>
          <a:pPr>
            <a:buNone/>
          </a:pPr>
          <a:endParaRPr lang="en-IN" sz="3600" dirty="0"/>
        </a:p>
      </dgm:t>
    </dgm:pt>
    <dgm:pt modelId="{2E61E0CB-042C-48F4-AEDF-5005A6529E13}" type="parTrans" cxnId="{C837BDE9-515A-4277-B47D-C2B113FF6C4C}">
      <dgm:prSet/>
      <dgm:spPr/>
      <dgm:t>
        <a:bodyPr/>
        <a:lstStyle/>
        <a:p>
          <a:endParaRPr lang="en-IN"/>
        </a:p>
      </dgm:t>
    </dgm:pt>
    <dgm:pt modelId="{E031916E-3FF0-4D31-82D7-E9A7564BC801}" type="sibTrans" cxnId="{C837BDE9-515A-4277-B47D-C2B113FF6C4C}">
      <dgm:prSet/>
      <dgm:spPr/>
      <dgm:t>
        <a:bodyPr/>
        <a:lstStyle/>
        <a:p>
          <a:endParaRPr lang="en-IN"/>
        </a:p>
      </dgm:t>
    </dgm:pt>
    <dgm:pt modelId="{0EAFAF4E-CE5E-4509-977A-70DA0CFBD07D}">
      <dgm:prSet/>
      <dgm:spPr/>
      <dgm:t>
        <a:bodyPr/>
        <a:lstStyle/>
        <a:p>
          <a:pPr>
            <a:buNone/>
          </a:pPr>
          <a:endParaRPr lang="en-IN" sz="3600" dirty="0"/>
        </a:p>
      </dgm:t>
    </dgm:pt>
    <dgm:pt modelId="{034A6C9E-AFEB-4554-9F86-1A780CAB30BB}" type="parTrans" cxnId="{ADB0A54A-EF08-4BDA-92DB-5D32229D11D6}">
      <dgm:prSet/>
      <dgm:spPr/>
      <dgm:t>
        <a:bodyPr/>
        <a:lstStyle/>
        <a:p>
          <a:endParaRPr lang="en-IN"/>
        </a:p>
      </dgm:t>
    </dgm:pt>
    <dgm:pt modelId="{68B1285B-A161-4A3A-B744-38F6E1EA9204}" type="sibTrans" cxnId="{ADB0A54A-EF08-4BDA-92DB-5D32229D11D6}">
      <dgm:prSet/>
      <dgm:spPr/>
      <dgm:t>
        <a:bodyPr/>
        <a:lstStyle/>
        <a:p>
          <a:endParaRPr lang="en-IN"/>
        </a:p>
      </dgm:t>
    </dgm:pt>
    <dgm:pt modelId="{755A5DCE-D151-42B1-94A9-D75ADD52C0F9}" type="pres">
      <dgm:prSet presAssocID="{807BA551-7049-42EB-8249-16851A439AE0}" presName="diagram" presStyleCnt="0">
        <dgm:presLayoutVars>
          <dgm:dir/>
          <dgm:animLvl val="lvl"/>
          <dgm:resizeHandles val="exact"/>
        </dgm:presLayoutVars>
      </dgm:prSet>
      <dgm:spPr/>
    </dgm:pt>
    <dgm:pt modelId="{0538988C-509F-41AA-AC46-C48440E3B8E5}" type="pres">
      <dgm:prSet presAssocID="{06EF59F2-DEA9-40D7-9665-AD6E19565F78}" presName="compNode" presStyleCnt="0"/>
      <dgm:spPr/>
    </dgm:pt>
    <dgm:pt modelId="{9663E2F8-01CA-4D4A-ABA8-C5F628DDC268}" type="pres">
      <dgm:prSet presAssocID="{06EF59F2-DEA9-40D7-9665-AD6E19565F78}" presName="childRect" presStyleLbl="bgAcc1" presStyleIdx="0" presStyleCnt="3">
        <dgm:presLayoutVars>
          <dgm:bulletEnabled val="1"/>
        </dgm:presLayoutVars>
      </dgm:prSet>
      <dgm:spPr/>
    </dgm:pt>
    <dgm:pt modelId="{CBC62434-DB3D-4DDB-8F6C-E5B0D0F1B2D4}" type="pres">
      <dgm:prSet presAssocID="{06EF59F2-DEA9-40D7-9665-AD6E19565F7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75F0F3D3-ED9A-4FA5-8D75-18E59B2D3FAF}" type="pres">
      <dgm:prSet presAssocID="{06EF59F2-DEA9-40D7-9665-AD6E19565F78}" presName="parentRect" presStyleLbl="alignNode1" presStyleIdx="0" presStyleCnt="3"/>
      <dgm:spPr/>
    </dgm:pt>
    <dgm:pt modelId="{C3ADFC32-04D3-46DA-B665-1D1CFC612EA7}" type="pres">
      <dgm:prSet presAssocID="{06EF59F2-DEA9-40D7-9665-AD6E19565F78}" presName="adorn" presStyleLbl="fgAccFollowNode1" presStyleIdx="0" presStyleCnt="3"/>
      <dgm:spPr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Assorted pills and capsules"/>
        </a:ext>
      </dgm:extLst>
    </dgm:pt>
    <dgm:pt modelId="{384311CB-AF93-4C60-BCB8-A8CC880E3D0E}" type="pres">
      <dgm:prSet presAssocID="{66F9D054-7EA3-4F49-96CA-B29117AA886E}" presName="sibTrans" presStyleLbl="sibTrans2D1" presStyleIdx="0" presStyleCnt="0"/>
      <dgm:spPr/>
    </dgm:pt>
    <dgm:pt modelId="{547391D3-0331-4FEF-A35E-4D7D984FF8E4}" type="pres">
      <dgm:prSet presAssocID="{203A5109-BFFC-4E5A-887B-A440C83D11DD}" presName="compNode" presStyleCnt="0"/>
      <dgm:spPr/>
    </dgm:pt>
    <dgm:pt modelId="{F8D4EB02-DC45-452E-A0BE-0089FCBEFE40}" type="pres">
      <dgm:prSet presAssocID="{203A5109-BFFC-4E5A-887B-A440C83D11DD}" presName="childRect" presStyleLbl="bgAcc1" presStyleIdx="1" presStyleCnt="3" custScaleY="106324">
        <dgm:presLayoutVars>
          <dgm:bulletEnabled val="1"/>
        </dgm:presLayoutVars>
      </dgm:prSet>
      <dgm:spPr/>
    </dgm:pt>
    <dgm:pt modelId="{EEEDE74D-EBC1-46C1-B8A4-C6FCEBA86DC5}" type="pres">
      <dgm:prSet presAssocID="{203A5109-BFFC-4E5A-887B-A440C83D11D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CCF4BDB-2999-4DEF-9287-3EE9FEF2A12E}" type="pres">
      <dgm:prSet presAssocID="{203A5109-BFFC-4E5A-887B-A440C83D11DD}" presName="parentRect" presStyleLbl="alignNode1" presStyleIdx="1" presStyleCnt="3"/>
      <dgm:spPr/>
    </dgm:pt>
    <dgm:pt modelId="{7D534840-0DB7-4FC3-B36A-FEAD8E8FA51C}" type="pres">
      <dgm:prSet presAssocID="{203A5109-BFFC-4E5A-887B-A440C83D11DD}" presName="adorn" presStyleLbl="fgAccFollow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 with solid fill"/>
        </a:ext>
      </dgm:extLst>
    </dgm:pt>
    <dgm:pt modelId="{152991B2-B6E8-4AB5-B2DA-95EB2FB3F498}" type="pres">
      <dgm:prSet presAssocID="{2341353B-8D20-4160-9781-F87626718E53}" presName="sibTrans" presStyleLbl="sibTrans2D1" presStyleIdx="0" presStyleCnt="0"/>
      <dgm:spPr/>
    </dgm:pt>
    <dgm:pt modelId="{5685FF4B-B8DA-4E36-A99B-87FBAFB122EB}" type="pres">
      <dgm:prSet presAssocID="{E4D3746A-1B82-42F5-BC84-4FC76B8D89C9}" presName="compNode" presStyleCnt="0"/>
      <dgm:spPr/>
    </dgm:pt>
    <dgm:pt modelId="{4E42AB34-4DF0-4D06-8527-321C83DFE083}" type="pres">
      <dgm:prSet presAssocID="{E4D3746A-1B82-42F5-BC84-4FC76B8D89C9}" presName="childRect" presStyleLbl="bgAcc1" presStyleIdx="2" presStyleCnt="3">
        <dgm:presLayoutVars>
          <dgm:bulletEnabled val="1"/>
        </dgm:presLayoutVars>
      </dgm:prSet>
      <dgm:spPr/>
    </dgm:pt>
    <dgm:pt modelId="{A95A313B-0CC8-4389-AAD4-CA021F98FE35}" type="pres">
      <dgm:prSet presAssocID="{E4D3746A-1B82-42F5-BC84-4FC76B8D89C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66A37BE9-2B00-4C72-8438-760AB28B784B}" type="pres">
      <dgm:prSet presAssocID="{E4D3746A-1B82-42F5-BC84-4FC76B8D89C9}" presName="parentRect" presStyleLbl="alignNode1" presStyleIdx="2" presStyleCnt="3"/>
      <dgm:spPr/>
    </dgm:pt>
    <dgm:pt modelId="{6928EF33-E16B-439A-A0DE-2145D336A061}" type="pres">
      <dgm:prSet presAssocID="{E4D3746A-1B82-42F5-BC84-4FC76B8D89C9}" presName="adorn" presStyleLbl="fgAccFollow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 with solid fill"/>
        </a:ext>
      </dgm:extLst>
    </dgm:pt>
  </dgm:ptLst>
  <dgm:cxnLst>
    <dgm:cxn modelId="{52D4ED0C-19AE-4718-9077-4A94EB975AA5}" type="presOf" srcId="{203A5109-BFFC-4E5A-887B-A440C83D11DD}" destId="{4CCF4BDB-2999-4DEF-9287-3EE9FEF2A12E}" srcOrd="1" destOrd="0" presId="urn:microsoft.com/office/officeart/2005/8/layout/bList2"/>
    <dgm:cxn modelId="{23199712-9AE4-4E81-B2BD-9FA351A42867}" srcId="{06EF59F2-DEA9-40D7-9665-AD6E19565F78}" destId="{808EED74-299B-4213-AA4B-418905A32471}" srcOrd="0" destOrd="0" parTransId="{8EA78F36-4B28-4AFE-84EB-D4CF19131C8D}" sibTransId="{89FEFABF-5C78-47A1-A26F-EED4393B4F81}"/>
    <dgm:cxn modelId="{C711D214-1761-4FF3-8C83-AE7E2FD89E00}" srcId="{E4D3746A-1B82-42F5-BC84-4FC76B8D89C9}" destId="{EEF0DF20-E5DA-4EDF-9D47-221DB0CE4467}" srcOrd="0" destOrd="0" parTransId="{C160067A-16CE-4F1A-8985-C0D64DA11E9D}" sibTransId="{DF5BBB7A-3476-4C39-A692-70ADBFF04F1C}"/>
    <dgm:cxn modelId="{D7421E21-B1EE-46F3-AEAF-FE0AD85010B2}" type="presOf" srcId="{E4D3746A-1B82-42F5-BC84-4FC76B8D89C9}" destId="{A95A313B-0CC8-4389-AAD4-CA021F98FE35}" srcOrd="0" destOrd="0" presId="urn:microsoft.com/office/officeart/2005/8/layout/bList2"/>
    <dgm:cxn modelId="{BEBBC83A-A6C7-4A3D-B944-3BBA3B115F15}" type="presOf" srcId="{0EAFAF4E-CE5E-4509-977A-70DA0CFBD07D}" destId="{4E42AB34-4DF0-4D06-8527-321C83DFE083}" srcOrd="0" destOrd="1" presId="urn:microsoft.com/office/officeart/2005/8/layout/bList2"/>
    <dgm:cxn modelId="{7448AF61-BE95-4126-BFC0-2CB757704639}" srcId="{807BA551-7049-42EB-8249-16851A439AE0}" destId="{203A5109-BFFC-4E5A-887B-A440C83D11DD}" srcOrd="1" destOrd="0" parTransId="{06A9D995-1A3E-43C2-A625-8BE201F027D2}" sibTransId="{2341353B-8D20-4160-9781-F87626718E53}"/>
    <dgm:cxn modelId="{23645063-B867-4C46-8A93-C6D8BCD6C048}" type="presOf" srcId="{E4D3746A-1B82-42F5-BC84-4FC76B8D89C9}" destId="{66A37BE9-2B00-4C72-8438-760AB28B784B}" srcOrd="1" destOrd="0" presId="urn:microsoft.com/office/officeart/2005/8/layout/bList2"/>
    <dgm:cxn modelId="{ADB0A54A-EF08-4BDA-92DB-5D32229D11D6}" srcId="{E4D3746A-1B82-42F5-BC84-4FC76B8D89C9}" destId="{0EAFAF4E-CE5E-4509-977A-70DA0CFBD07D}" srcOrd="1" destOrd="0" parTransId="{034A6C9E-AFEB-4554-9F86-1A780CAB30BB}" sibTransId="{68B1285B-A161-4A3A-B744-38F6E1EA9204}"/>
    <dgm:cxn modelId="{FF56E94F-1E2F-40D0-9743-CA212131450A}" type="presOf" srcId="{20250EE1-AA31-4049-BFD6-7A59051255BB}" destId="{F8D4EB02-DC45-452E-A0BE-0089FCBEFE40}" srcOrd="0" destOrd="0" presId="urn:microsoft.com/office/officeart/2005/8/layout/bList2"/>
    <dgm:cxn modelId="{5D71E27D-9411-4E56-AF3F-74699DA5B36A}" srcId="{807BA551-7049-42EB-8249-16851A439AE0}" destId="{06EF59F2-DEA9-40D7-9665-AD6E19565F78}" srcOrd="0" destOrd="0" parTransId="{A7B7503F-1145-4AF8-80CB-6F578134007F}" sibTransId="{66F9D054-7EA3-4F49-96CA-B29117AA886E}"/>
    <dgm:cxn modelId="{C7DBCE8D-6A45-48CC-BDE3-4CC47CA33C3B}" type="presOf" srcId="{66F9D054-7EA3-4F49-96CA-B29117AA886E}" destId="{384311CB-AF93-4C60-BCB8-A8CC880E3D0E}" srcOrd="0" destOrd="0" presId="urn:microsoft.com/office/officeart/2005/8/layout/bList2"/>
    <dgm:cxn modelId="{B6002B8F-C805-4DA3-8807-1C1556F3E0F6}" type="presOf" srcId="{807BA551-7049-42EB-8249-16851A439AE0}" destId="{755A5DCE-D151-42B1-94A9-D75ADD52C0F9}" srcOrd="0" destOrd="0" presId="urn:microsoft.com/office/officeart/2005/8/layout/bList2"/>
    <dgm:cxn modelId="{EF9FF99D-57AE-40AA-AED6-0FDAB5C65DB7}" srcId="{203A5109-BFFC-4E5A-887B-A440C83D11DD}" destId="{20250EE1-AA31-4049-BFD6-7A59051255BB}" srcOrd="0" destOrd="0" parTransId="{92E16B51-4E41-489B-A0C0-8AA9E4404920}" sibTransId="{1EF265A6-483E-4388-A21E-C7594147D413}"/>
    <dgm:cxn modelId="{72E2609E-8930-4A14-8D3C-590E396E0BC2}" type="presOf" srcId="{203A5109-BFFC-4E5A-887B-A440C83D11DD}" destId="{EEEDE74D-EBC1-46C1-B8A4-C6FCEBA86DC5}" srcOrd="0" destOrd="0" presId="urn:microsoft.com/office/officeart/2005/8/layout/bList2"/>
    <dgm:cxn modelId="{5B8C85A2-AEE7-4A68-B7A3-733F893EFC86}" type="presOf" srcId="{808EED74-299B-4213-AA4B-418905A32471}" destId="{9663E2F8-01CA-4D4A-ABA8-C5F628DDC268}" srcOrd="0" destOrd="0" presId="urn:microsoft.com/office/officeart/2005/8/layout/bList2"/>
    <dgm:cxn modelId="{CF3144A6-6583-472F-A5A3-DB45135B218B}" type="presOf" srcId="{06EF59F2-DEA9-40D7-9665-AD6E19565F78}" destId="{75F0F3D3-ED9A-4FA5-8D75-18E59B2D3FAF}" srcOrd="1" destOrd="0" presId="urn:microsoft.com/office/officeart/2005/8/layout/bList2"/>
    <dgm:cxn modelId="{5CE984A7-4AC2-4694-A459-4B47610CE768}" type="presOf" srcId="{53457070-3D10-4AA4-9A3F-1DD7324C250E}" destId="{9663E2F8-01CA-4D4A-ABA8-C5F628DDC268}" srcOrd="0" destOrd="1" presId="urn:microsoft.com/office/officeart/2005/8/layout/bList2"/>
    <dgm:cxn modelId="{E2942ECA-4745-4E1B-B0A1-06E7FC840B21}" type="presOf" srcId="{EEF0DF20-E5DA-4EDF-9D47-221DB0CE4467}" destId="{4E42AB34-4DF0-4D06-8527-321C83DFE083}" srcOrd="0" destOrd="0" presId="urn:microsoft.com/office/officeart/2005/8/layout/bList2"/>
    <dgm:cxn modelId="{261D09CB-641B-466A-9CDF-0691ED1548D1}" type="presOf" srcId="{2341353B-8D20-4160-9781-F87626718E53}" destId="{152991B2-B6E8-4AB5-B2DA-95EB2FB3F498}" srcOrd="0" destOrd="0" presId="urn:microsoft.com/office/officeart/2005/8/layout/bList2"/>
    <dgm:cxn modelId="{011100E7-119D-458D-A137-9A90C88AFECB}" srcId="{807BA551-7049-42EB-8249-16851A439AE0}" destId="{E4D3746A-1B82-42F5-BC84-4FC76B8D89C9}" srcOrd="2" destOrd="0" parTransId="{F7056387-1CAA-459F-BC4B-4BF9D9216A52}" sibTransId="{7A817986-AA6A-4455-B719-44516157CEB9}"/>
    <dgm:cxn modelId="{C837BDE9-515A-4277-B47D-C2B113FF6C4C}" srcId="{06EF59F2-DEA9-40D7-9665-AD6E19565F78}" destId="{53457070-3D10-4AA4-9A3F-1DD7324C250E}" srcOrd="1" destOrd="0" parTransId="{2E61E0CB-042C-48F4-AEDF-5005A6529E13}" sibTransId="{E031916E-3FF0-4D31-82D7-E9A7564BC801}"/>
    <dgm:cxn modelId="{60BBD4F4-BDD8-475D-BFDF-522C215C5694}" type="presOf" srcId="{06EF59F2-DEA9-40D7-9665-AD6E19565F78}" destId="{CBC62434-DB3D-4DDB-8F6C-E5B0D0F1B2D4}" srcOrd="0" destOrd="0" presId="urn:microsoft.com/office/officeart/2005/8/layout/bList2"/>
    <dgm:cxn modelId="{C8933C78-ACE3-4ECC-991E-41588F39975E}" type="presParOf" srcId="{755A5DCE-D151-42B1-94A9-D75ADD52C0F9}" destId="{0538988C-509F-41AA-AC46-C48440E3B8E5}" srcOrd="0" destOrd="0" presId="urn:microsoft.com/office/officeart/2005/8/layout/bList2"/>
    <dgm:cxn modelId="{1BDF99B7-CC11-4D9F-887A-7C0FD9975B3B}" type="presParOf" srcId="{0538988C-509F-41AA-AC46-C48440E3B8E5}" destId="{9663E2F8-01CA-4D4A-ABA8-C5F628DDC268}" srcOrd="0" destOrd="0" presId="urn:microsoft.com/office/officeart/2005/8/layout/bList2"/>
    <dgm:cxn modelId="{25D8E8AD-0AF6-4840-B938-EC2E87BADC55}" type="presParOf" srcId="{0538988C-509F-41AA-AC46-C48440E3B8E5}" destId="{CBC62434-DB3D-4DDB-8F6C-E5B0D0F1B2D4}" srcOrd="1" destOrd="0" presId="urn:microsoft.com/office/officeart/2005/8/layout/bList2"/>
    <dgm:cxn modelId="{C908FA41-7948-4B13-AF0E-0F64D15FDFB6}" type="presParOf" srcId="{0538988C-509F-41AA-AC46-C48440E3B8E5}" destId="{75F0F3D3-ED9A-4FA5-8D75-18E59B2D3FAF}" srcOrd="2" destOrd="0" presId="urn:microsoft.com/office/officeart/2005/8/layout/bList2"/>
    <dgm:cxn modelId="{BEBFC88A-0853-4B91-A31C-E7C89F33A24C}" type="presParOf" srcId="{0538988C-509F-41AA-AC46-C48440E3B8E5}" destId="{C3ADFC32-04D3-46DA-B665-1D1CFC612EA7}" srcOrd="3" destOrd="0" presId="urn:microsoft.com/office/officeart/2005/8/layout/bList2"/>
    <dgm:cxn modelId="{FC84AEA7-B233-4230-ABA5-F6F37DF1FDD2}" type="presParOf" srcId="{755A5DCE-D151-42B1-94A9-D75ADD52C0F9}" destId="{384311CB-AF93-4C60-BCB8-A8CC880E3D0E}" srcOrd="1" destOrd="0" presId="urn:microsoft.com/office/officeart/2005/8/layout/bList2"/>
    <dgm:cxn modelId="{240FDF97-F72E-45CA-B916-DD21576E956D}" type="presParOf" srcId="{755A5DCE-D151-42B1-94A9-D75ADD52C0F9}" destId="{547391D3-0331-4FEF-A35E-4D7D984FF8E4}" srcOrd="2" destOrd="0" presId="urn:microsoft.com/office/officeart/2005/8/layout/bList2"/>
    <dgm:cxn modelId="{7E2582AE-6E2B-42E1-8672-CCA7BEA763EC}" type="presParOf" srcId="{547391D3-0331-4FEF-A35E-4D7D984FF8E4}" destId="{F8D4EB02-DC45-452E-A0BE-0089FCBEFE40}" srcOrd="0" destOrd="0" presId="urn:microsoft.com/office/officeart/2005/8/layout/bList2"/>
    <dgm:cxn modelId="{C307D3DD-84FB-4098-B764-134F586A52AD}" type="presParOf" srcId="{547391D3-0331-4FEF-A35E-4D7D984FF8E4}" destId="{EEEDE74D-EBC1-46C1-B8A4-C6FCEBA86DC5}" srcOrd="1" destOrd="0" presId="urn:microsoft.com/office/officeart/2005/8/layout/bList2"/>
    <dgm:cxn modelId="{4FA2696C-1A0E-46B9-9FF9-E74CED595165}" type="presParOf" srcId="{547391D3-0331-4FEF-A35E-4D7D984FF8E4}" destId="{4CCF4BDB-2999-4DEF-9287-3EE9FEF2A12E}" srcOrd="2" destOrd="0" presId="urn:microsoft.com/office/officeart/2005/8/layout/bList2"/>
    <dgm:cxn modelId="{4321E3E8-8E1C-4333-8333-E3EC4FA94E38}" type="presParOf" srcId="{547391D3-0331-4FEF-A35E-4D7D984FF8E4}" destId="{7D534840-0DB7-4FC3-B36A-FEAD8E8FA51C}" srcOrd="3" destOrd="0" presId="urn:microsoft.com/office/officeart/2005/8/layout/bList2"/>
    <dgm:cxn modelId="{D1FF11F0-5789-4827-AB17-8D1AD3DAC9DB}" type="presParOf" srcId="{755A5DCE-D151-42B1-94A9-D75ADD52C0F9}" destId="{152991B2-B6E8-4AB5-B2DA-95EB2FB3F498}" srcOrd="3" destOrd="0" presId="urn:microsoft.com/office/officeart/2005/8/layout/bList2"/>
    <dgm:cxn modelId="{3A69DC92-7058-477C-9A01-DB2AEAB0126E}" type="presParOf" srcId="{755A5DCE-D151-42B1-94A9-D75ADD52C0F9}" destId="{5685FF4B-B8DA-4E36-A99B-87FBAFB122EB}" srcOrd="4" destOrd="0" presId="urn:microsoft.com/office/officeart/2005/8/layout/bList2"/>
    <dgm:cxn modelId="{5FAAB297-902C-482F-8563-5AC91864172C}" type="presParOf" srcId="{5685FF4B-B8DA-4E36-A99B-87FBAFB122EB}" destId="{4E42AB34-4DF0-4D06-8527-321C83DFE083}" srcOrd="0" destOrd="0" presId="urn:microsoft.com/office/officeart/2005/8/layout/bList2"/>
    <dgm:cxn modelId="{1FAFA16F-EF1D-45E1-9C89-BF7F0FB2C99B}" type="presParOf" srcId="{5685FF4B-B8DA-4E36-A99B-87FBAFB122EB}" destId="{A95A313B-0CC8-4389-AAD4-CA021F98FE35}" srcOrd="1" destOrd="0" presId="urn:microsoft.com/office/officeart/2005/8/layout/bList2"/>
    <dgm:cxn modelId="{A20D0CEA-6A9E-42E2-85B6-40C894EE23B2}" type="presParOf" srcId="{5685FF4B-B8DA-4E36-A99B-87FBAFB122EB}" destId="{66A37BE9-2B00-4C72-8438-760AB28B784B}" srcOrd="2" destOrd="0" presId="urn:microsoft.com/office/officeart/2005/8/layout/bList2"/>
    <dgm:cxn modelId="{E808CF28-C32C-4E75-B127-DA9BAC51D74F}" type="presParOf" srcId="{5685FF4B-B8DA-4E36-A99B-87FBAFB122EB}" destId="{6928EF33-E16B-439A-A0DE-2145D336A061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48D61-0FBB-48B4-BBFF-6B4B66017897}">
      <dsp:nvSpPr>
        <dsp:cNvPr id="0" name=""/>
        <dsp:cNvSpPr/>
      </dsp:nvSpPr>
      <dsp:spPr>
        <a:xfrm>
          <a:off x="0" y="200593"/>
          <a:ext cx="2185196" cy="168335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IN" sz="1400" b="0" i="0" kern="1200" dirty="0"/>
            <a:t> Combines retinal fundus images with </a:t>
          </a:r>
          <a:r>
            <a:rPr lang="en-IN" sz="1400" b="1" i="0" kern="1200" dirty="0"/>
            <a:t>14 biomarkers</a:t>
          </a:r>
          <a:r>
            <a:rPr lang="en-IN" sz="1400" b="0" i="0" kern="1200" dirty="0"/>
            <a:t> and </a:t>
          </a:r>
          <a:r>
            <a:rPr lang="en-IN" sz="1400" b="1" i="0" kern="1200" dirty="0"/>
            <a:t>8 EMR parameters</a:t>
          </a:r>
          <a:r>
            <a:rPr lang="en-IN" sz="1400" b="0" i="0" kern="1200" dirty="0"/>
            <a:t> (HbA1c, BP, BMI). Multimodal fusion delivers a vastly superior clinical evaluation over basic image-only models. (NIH 25</a:t>
          </a:r>
          <a:endParaRPr lang="en-IN" sz="1400" kern="1200" dirty="0">
            <a:latin typeface="Sitka Text" pitchFamily="2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3600" kern="1200" dirty="0"/>
        </a:p>
      </dsp:txBody>
      <dsp:txXfrm>
        <a:off x="39443" y="240036"/>
        <a:ext cx="2106310" cy="1643909"/>
      </dsp:txXfrm>
    </dsp:sp>
    <dsp:sp modelId="{690BF2E3-A656-446B-AB67-1DAAA5C187DB}">
      <dsp:nvSpPr>
        <dsp:cNvPr id="0" name=""/>
        <dsp:cNvSpPr/>
      </dsp:nvSpPr>
      <dsp:spPr>
        <a:xfrm>
          <a:off x="0" y="1857871"/>
          <a:ext cx="2185196" cy="70141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00"/>
              </a:solidFill>
              <a:latin typeface="Sitka Text" pitchFamily="2" charset="0"/>
            </a:rPr>
            <a:t> </a:t>
          </a:r>
          <a:r>
            <a:rPr lang="en-IN" sz="1400" b="1" i="0" kern="1200" dirty="0">
              <a:solidFill>
                <a:srgbClr val="FFFF00"/>
              </a:solidFill>
              <a:latin typeface="Sitka Text" pitchFamily="2" charset="0"/>
            </a:rPr>
            <a:t>Multimodal Clinical </a:t>
          </a:r>
          <a:r>
            <a:rPr lang="en-IN" sz="1400" b="1" i="0" kern="1200" dirty="0">
              <a:solidFill>
                <a:srgbClr val="FFFF00"/>
              </a:solidFill>
            </a:rPr>
            <a:t>Fusion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0" y="1857871"/>
        <a:ext cx="1538870" cy="701417"/>
      </dsp:txXfrm>
    </dsp:sp>
    <dsp:sp modelId="{FC17AE29-A935-4C07-8F28-3A34E9E848E6}">
      <dsp:nvSpPr>
        <dsp:cNvPr id="0" name=""/>
        <dsp:cNvSpPr/>
      </dsp:nvSpPr>
      <dsp:spPr>
        <a:xfrm>
          <a:off x="1608174" y="1969285"/>
          <a:ext cx="764818" cy="764818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3">
                <a:alpha val="90000"/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3">
                <a:alpha val="90000"/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36000" r="-36000"/>
          </a:stretch>
        </a:blip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52D2D-3D10-4329-B39E-E53FB0076425}">
      <dsp:nvSpPr>
        <dsp:cNvPr id="0" name=""/>
        <dsp:cNvSpPr/>
      </dsp:nvSpPr>
      <dsp:spPr>
        <a:xfrm>
          <a:off x="2542411" y="213631"/>
          <a:ext cx="2185196" cy="163120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57150" rIns="19050" bIns="1905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IN" sz="1500" kern="1200" dirty="0">
              <a:latin typeface="Sitka Text" pitchFamily="2" charset="0"/>
            </a:rPr>
            <a:t>  </a:t>
          </a:r>
          <a:r>
            <a:rPr lang="en-IN" sz="1500" b="1" i="0" kern="1200" dirty="0"/>
            <a:t>3-tier edge quality check</a:t>
          </a:r>
          <a:r>
            <a:rPr lang="en-IN" sz="1500" b="0" i="0" kern="1200" dirty="0"/>
            <a:t> validates every scan at the rural PHC itself. Provides </a:t>
          </a:r>
          <a:r>
            <a:rPr lang="en-IN" sz="1500" b="1" i="0" kern="1200" dirty="0"/>
            <a:t>instant recapture feedback</a:t>
          </a:r>
          <a:r>
            <a:rPr lang="en-IN" sz="1500" b="0" i="0" kern="1200" dirty="0"/>
            <a:t> to untrained field operators before upload.</a:t>
          </a:r>
          <a:endParaRPr lang="en-IN" sz="1500" kern="1200" dirty="0">
            <a:latin typeface="Sitka Text" pitchFamily="2" charset="0"/>
          </a:endParaRPr>
        </a:p>
      </dsp:txBody>
      <dsp:txXfrm>
        <a:off x="2580632" y="251852"/>
        <a:ext cx="2108754" cy="1592981"/>
      </dsp:txXfrm>
    </dsp:sp>
    <dsp:sp modelId="{CC918BAF-6F09-4021-A849-B3967925985E}">
      <dsp:nvSpPr>
        <dsp:cNvPr id="0" name=""/>
        <dsp:cNvSpPr/>
      </dsp:nvSpPr>
      <dsp:spPr>
        <a:xfrm>
          <a:off x="2542411" y="1844834"/>
          <a:ext cx="2185196" cy="701417"/>
        </a:xfrm>
        <a:prstGeom prst="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>
              <a:solidFill>
                <a:srgbClr val="FFFF00"/>
              </a:solidFill>
              <a:latin typeface="Sitka Text" pitchFamily="2" charset="0"/>
            </a:rPr>
            <a:t>Edge Quality Gate (IQA)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2542411" y="1844834"/>
        <a:ext cx="1538870" cy="701417"/>
      </dsp:txXfrm>
    </dsp:sp>
    <dsp:sp modelId="{5FC99E48-5A0D-4D3B-ABE3-E687D2BD5A19}">
      <dsp:nvSpPr>
        <dsp:cNvPr id="0" name=""/>
        <dsp:cNvSpPr/>
      </dsp:nvSpPr>
      <dsp:spPr>
        <a:xfrm>
          <a:off x="4163158" y="1956247"/>
          <a:ext cx="764818" cy="764818"/>
        </a:xfrm>
        <a:prstGeom prst="ellipse">
          <a:avLst/>
        </a:prstGeom>
        <a:blipFill>
          <a:blip xmlns:r="http://schemas.openxmlformats.org/officeDocument/2006/relationships" r:embed="rId2">
            <a:duotone>
              <a:schemeClr val="accent3">
                <a:alpha val="90000"/>
                <a:hueOff val="5358427"/>
                <a:satOff val="-6896"/>
                <a:lumOff val="-537"/>
                <a:alphaOff val="0"/>
                <a:shade val="20000"/>
                <a:satMod val="200000"/>
              </a:schemeClr>
              <a:schemeClr val="accent3">
                <a:alpha val="90000"/>
                <a:hueOff val="5358427"/>
                <a:satOff val="-6896"/>
                <a:lumOff val="-537"/>
                <a:alphaOff val="0"/>
                <a:tint val="12000"/>
                <a:satMod val="190000"/>
              </a:schemeClr>
            </a:duotone>
          </a:blip>
          <a:srcRect/>
          <a:stretch>
            <a:fillRect l="-34000" r="-34000"/>
          </a:stretch>
        </a:blipFill>
        <a:ln w="25400" cap="flat" cmpd="sng" algn="ctr">
          <a:solidFill>
            <a:schemeClr val="accent3">
              <a:tint val="40000"/>
              <a:alpha val="90000"/>
              <a:hueOff val="5358427"/>
              <a:satOff val="-6896"/>
              <a:lumOff val="-5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317E3-DA3F-4F96-A86C-E46693A828E0}">
      <dsp:nvSpPr>
        <dsp:cNvPr id="0" name=""/>
        <dsp:cNvSpPr/>
      </dsp:nvSpPr>
      <dsp:spPr>
        <a:xfrm>
          <a:off x="5107316" y="200569"/>
          <a:ext cx="2291899" cy="1683450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 dirty="0">
              <a:latin typeface="Sitka Text" pitchFamily="2" charset="0"/>
            </a:rPr>
            <a:t> </a:t>
          </a:r>
          <a:r>
            <a:rPr lang="en-IN" sz="1400" b="1" i="0" kern="1200" dirty="0"/>
            <a:t>5-branch hybrid AI</a:t>
          </a:r>
          <a:r>
            <a:rPr lang="en-IN" sz="1400" b="0" i="0" kern="1200" dirty="0"/>
            <a:t> — </a:t>
          </a:r>
          <a:r>
            <a:rPr lang="en-IN" sz="1400" b="1" i="0" kern="1200" dirty="0" err="1"/>
            <a:t>EfficientNet</a:t>
          </a:r>
          <a:r>
            <a:rPr lang="en-IN" sz="1400" b="1" i="0" kern="1200" dirty="0"/>
            <a:t> + Swin-Transformer + Swin-</a:t>
          </a:r>
          <a:r>
            <a:rPr lang="en-IN" sz="1400" b="1" i="0" kern="1200" dirty="0" err="1"/>
            <a:t>UNet</a:t>
          </a:r>
          <a:r>
            <a:rPr lang="en-IN" sz="1400" b="1" i="0" kern="1200" dirty="0"/>
            <a:t> + </a:t>
          </a:r>
          <a:r>
            <a:rPr lang="en-IN" sz="1400" b="1" i="0" kern="1200" dirty="0" err="1"/>
            <a:t>Concat</a:t>
          </a:r>
          <a:r>
            <a:rPr lang="en-IN" sz="1400" b="1" i="0" kern="1200" dirty="0"/>
            <a:t>-U-Net + MLP — unified</a:t>
          </a:r>
          <a:r>
            <a:rPr lang="en-IN" sz="1400" b="0" i="0" kern="1200" dirty="0"/>
            <a:t> through </a:t>
          </a:r>
          <a:r>
            <a:rPr lang="en-IN" sz="1400" b="1" i="0" kern="1200" dirty="0"/>
            <a:t>Adaptive Gated Fusion</a:t>
          </a:r>
          <a:r>
            <a:rPr lang="en-IN" sz="1400" b="0" i="0" kern="1200" dirty="0"/>
            <a:t> and a </a:t>
          </a:r>
          <a:r>
            <a:rPr lang="en-IN" sz="1400" b="1" i="0" kern="1200" dirty="0"/>
            <a:t>stacking ensemble</a:t>
          </a:r>
          <a:r>
            <a:rPr lang="en-IN" sz="1400" b="0" i="0" kern="1200" dirty="0"/>
            <a:t> for 5-grade DR classification.</a:t>
          </a:r>
          <a:endParaRPr lang="en-IN" sz="1400" kern="1200" dirty="0">
            <a:latin typeface="Sitka Text" pitchFamily="2" charset="0"/>
          </a:endParaRPr>
        </a:p>
      </dsp:txBody>
      <dsp:txXfrm>
        <a:off x="5146761" y="240014"/>
        <a:ext cx="2213009" cy="1644005"/>
      </dsp:txXfrm>
    </dsp:sp>
    <dsp:sp modelId="{4364EAB2-EC2B-4D24-9F13-B66987013F32}">
      <dsp:nvSpPr>
        <dsp:cNvPr id="0" name=""/>
        <dsp:cNvSpPr/>
      </dsp:nvSpPr>
      <dsp:spPr>
        <a:xfrm>
          <a:off x="5150747" y="1857896"/>
          <a:ext cx="2185196" cy="701417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>
              <a:solidFill>
                <a:srgbClr val="FFFF00"/>
              </a:solidFill>
              <a:latin typeface="Sitka Text" pitchFamily="2" charset="0"/>
            </a:rPr>
            <a:t>Hybrid Deep Learning Engine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5150747" y="1857896"/>
        <a:ext cx="1538870" cy="701417"/>
      </dsp:txXfrm>
    </dsp:sp>
    <dsp:sp modelId="{0F351AFD-9EA5-471A-B0A8-186ACC416CD8}">
      <dsp:nvSpPr>
        <dsp:cNvPr id="0" name=""/>
        <dsp:cNvSpPr/>
      </dsp:nvSpPr>
      <dsp:spPr>
        <a:xfrm>
          <a:off x="6771493" y="1969309"/>
          <a:ext cx="764818" cy="764818"/>
        </a:xfrm>
        <a:prstGeom prst="ellipse">
          <a:avLst/>
        </a:prstGeom>
        <a:blipFill>
          <a:blip xmlns:r="http://schemas.openxmlformats.org/officeDocument/2006/relationships" r:embed="rId3">
            <a:duotone>
              <a:schemeClr val="accent3">
                <a:alpha val="90000"/>
                <a:hueOff val="10716854"/>
                <a:satOff val="-13793"/>
                <a:lumOff val="-1075"/>
                <a:alphaOff val="0"/>
                <a:shade val="20000"/>
                <a:satMod val="200000"/>
              </a:schemeClr>
              <a:schemeClr val="accent3">
                <a:alpha val="90000"/>
                <a:hueOff val="10716854"/>
                <a:satOff val="-13793"/>
                <a:lumOff val="-1075"/>
                <a:alphaOff val="0"/>
                <a:tint val="12000"/>
                <a:satMod val="190000"/>
              </a:schemeClr>
            </a:duotone>
          </a:blip>
          <a:srcRect/>
          <a:stretch>
            <a:fillRect l="-39000" r="-39000"/>
          </a:stretch>
        </a:blipFill>
        <a:ln w="25400" cap="flat" cmpd="sng" algn="ctr">
          <a:solidFill>
            <a:schemeClr val="accent3">
              <a:tint val="40000"/>
              <a:alpha val="90000"/>
              <a:hueOff val="10716854"/>
              <a:satOff val="-13793"/>
              <a:lumOff val="-10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3E2F8-01CA-4D4A-ABA8-C5F628DDC268}">
      <dsp:nvSpPr>
        <dsp:cNvPr id="0" name=""/>
        <dsp:cNvSpPr/>
      </dsp:nvSpPr>
      <dsp:spPr>
        <a:xfrm>
          <a:off x="5098" y="203882"/>
          <a:ext cx="2202188" cy="164388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57150" rIns="19050" bIns="1905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IN" sz="1500" b="0" i="0" kern="1200" dirty="0"/>
            <a:t> </a:t>
          </a:r>
          <a:r>
            <a:rPr lang="en-IN" sz="1400" b="1" i="0" kern="1200" dirty="0"/>
            <a:t>Grad-CAM++, LIME &amp; SHAP</a:t>
          </a:r>
          <a:r>
            <a:rPr lang="en-IN" sz="1400" b="0" i="0" kern="1200" dirty="0"/>
            <a:t> provide visual proof for every prediction. A novel </a:t>
          </a:r>
          <a:r>
            <a:rPr lang="en-IN" sz="1400" b="1" i="0" kern="1200" dirty="0"/>
            <a:t>Lesion Alignment Check</a:t>
          </a:r>
          <a:r>
            <a:rPr lang="en-IN" sz="1400" b="0" i="0" kern="1200" dirty="0"/>
            <a:t> (Dice/</a:t>
          </a:r>
          <a:r>
            <a:rPr lang="en-IN" sz="1400" b="0" i="0" kern="1200" dirty="0" err="1"/>
            <a:t>IoU</a:t>
          </a:r>
          <a:r>
            <a:rPr lang="en-IN" sz="1400" b="0" i="0" kern="1200" dirty="0"/>
            <a:t>) verifies AI attention matches real pathology.</a:t>
          </a:r>
          <a:endParaRPr lang="en-IN" sz="1400" kern="1200" dirty="0">
            <a:latin typeface="Sitka Text" pitchFamily="2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3600" kern="1200" dirty="0"/>
        </a:p>
      </dsp:txBody>
      <dsp:txXfrm>
        <a:off x="43616" y="242400"/>
        <a:ext cx="2125152" cy="1605369"/>
      </dsp:txXfrm>
    </dsp:sp>
    <dsp:sp modelId="{75F0F3D3-ED9A-4FA5-8D75-18E59B2D3FAF}">
      <dsp:nvSpPr>
        <dsp:cNvPr id="0" name=""/>
        <dsp:cNvSpPr/>
      </dsp:nvSpPr>
      <dsp:spPr>
        <a:xfrm>
          <a:off x="5098" y="1847769"/>
          <a:ext cx="2202188" cy="7068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>
              <a:solidFill>
                <a:srgbClr val="FFFF00"/>
              </a:solidFill>
              <a:latin typeface="Sitka Text" pitchFamily="2" charset="0"/>
            </a:rPr>
            <a:t>Explainable &amp; Verifiable AI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5098" y="1847769"/>
        <a:ext cx="1550836" cy="706871"/>
      </dsp:txXfrm>
    </dsp:sp>
    <dsp:sp modelId="{C3ADFC32-04D3-46DA-B665-1D1CFC612EA7}">
      <dsp:nvSpPr>
        <dsp:cNvPr id="0" name=""/>
        <dsp:cNvSpPr/>
      </dsp:nvSpPr>
      <dsp:spPr>
        <a:xfrm>
          <a:off x="1618231" y="1960049"/>
          <a:ext cx="770765" cy="77076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4EB02-DC45-452E-A0BE-0089FCBEFE40}">
      <dsp:nvSpPr>
        <dsp:cNvPr id="0" name=""/>
        <dsp:cNvSpPr/>
      </dsp:nvSpPr>
      <dsp:spPr>
        <a:xfrm>
          <a:off x="2579950" y="177892"/>
          <a:ext cx="2202188" cy="174784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IN" sz="1400" b="0" i="0" kern="1200" dirty="0"/>
            <a:t> The system </a:t>
          </a:r>
          <a:r>
            <a:rPr lang="en-IN" sz="1400" b="1" i="0" kern="1200" dirty="0"/>
            <a:t>knows when it is unsure</a:t>
          </a:r>
          <a:r>
            <a:rPr lang="en-IN" sz="1400" b="0" i="0" kern="1200" dirty="0"/>
            <a:t>. Built-in confidence calibration and </a:t>
          </a:r>
          <a:r>
            <a:rPr lang="en-IN" sz="1400" b="1" i="0" kern="1200" dirty="0"/>
            <a:t>multi-pass uncertainty detection</a:t>
          </a:r>
          <a:r>
            <a:rPr lang="en-IN" sz="1400" b="0" i="0" kern="1200" dirty="0"/>
            <a:t> auto-flag doubtful cases for mandatory specialist review ensuring zero silent misses.</a:t>
          </a:r>
          <a:endParaRPr lang="en-IN" sz="1400" kern="1200" dirty="0">
            <a:latin typeface="Sitka Text" pitchFamily="2" charset="0"/>
          </a:endParaRPr>
        </a:p>
      </dsp:txBody>
      <dsp:txXfrm>
        <a:off x="2620904" y="218846"/>
        <a:ext cx="2120280" cy="1706892"/>
      </dsp:txXfrm>
    </dsp:sp>
    <dsp:sp modelId="{4CCF4BDB-2999-4DEF-9287-3EE9FEF2A12E}">
      <dsp:nvSpPr>
        <dsp:cNvPr id="0" name=""/>
        <dsp:cNvSpPr/>
      </dsp:nvSpPr>
      <dsp:spPr>
        <a:xfrm>
          <a:off x="2579950" y="1873759"/>
          <a:ext cx="2202188" cy="706871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>
              <a:solidFill>
                <a:srgbClr val="FFFF00"/>
              </a:solidFill>
              <a:latin typeface="Sitka Text" pitchFamily="2" charset="0"/>
            </a:rPr>
            <a:t>Calibrated Trust &amp; Uncertainty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2579950" y="1873759"/>
        <a:ext cx="1550836" cy="706871"/>
      </dsp:txXfrm>
    </dsp:sp>
    <dsp:sp modelId="{7D534840-0DB7-4FC3-B36A-FEAD8E8FA51C}">
      <dsp:nvSpPr>
        <dsp:cNvPr id="0" name=""/>
        <dsp:cNvSpPr/>
      </dsp:nvSpPr>
      <dsp:spPr>
        <a:xfrm>
          <a:off x="4193083" y="1986039"/>
          <a:ext cx="770765" cy="77076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2AB34-4DF0-4D06-8527-321C83DFE083}">
      <dsp:nvSpPr>
        <dsp:cNvPr id="0" name=""/>
        <dsp:cNvSpPr/>
      </dsp:nvSpPr>
      <dsp:spPr>
        <a:xfrm>
          <a:off x="5154802" y="203882"/>
          <a:ext cx="2202188" cy="164388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49530" rIns="16510" bIns="1651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IN" sz="1300" b="0" i="0" kern="1200" dirty="0"/>
            <a:t> </a:t>
          </a:r>
          <a:r>
            <a:rPr lang="en-IN" sz="1400" b="0" i="0" kern="1200" dirty="0"/>
            <a:t>Rural PHCs become </a:t>
          </a:r>
          <a:r>
            <a:rPr lang="en-IN" sz="1400" b="1" i="0" kern="1200" dirty="0"/>
            <a:t>intelligent screening nodes</a:t>
          </a:r>
          <a:r>
            <a:rPr lang="en-IN" sz="1400" b="0" i="0" kern="1200" dirty="0"/>
            <a:t>. Normal cases cleared locally, severe cases </a:t>
          </a:r>
          <a:r>
            <a:rPr lang="en-IN" sz="1400" b="1" i="0" kern="1200" dirty="0"/>
            <a:t>priority-queued</a:t>
          </a:r>
          <a:r>
            <a:rPr lang="en-IN" sz="1400" b="0" i="0" kern="1200" dirty="0"/>
            <a:t> to a </a:t>
          </a:r>
          <a:r>
            <a:rPr lang="en-IN" sz="1400" b="1" i="0" kern="1200" dirty="0"/>
            <a:t>30-second doctor dashboard</a:t>
          </a:r>
          <a:r>
            <a:rPr lang="en-IN" sz="1400" b="0" i="0" kern="1200" dirty="0"/>
            <a:t> at the district hospital.</a:t>
          </a:r>
          <a:endParaRPr lang="en-IN" sz="1400" kern="1200" dirty="0">
            <a:latin typeface="Sitka Text" pitchFamily="2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3600" kern="1200" dirty="0"/>
        </a:p>
      </dsp:txBody>
      <dsp:txXfrm>
        <a:off x="5193320" y="242400"/>
        <a:ext cx="2125152" cy="1605369"/>
      </dsp:txXfrm>
    </dsp:sp>
    <dsp:sp modelId="{66A37BE9-2B00-4C72-8438-760AB28B784B}">
      <dsp:nvSpPr>
        <dsp:cNvPr id="0" name=""/>
        <dsp:cNvSpPr/>
      </dsp:nvSpPr>
      <dsp:spPr>
        <a:xfrm>
          <a:off x="5154802" y="1847769"/>
          <a:ext cx="2202188" cy="70687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>
              <a:solidFill>
                <a:srgbClr val="FFFF00"/>
              </a:solidFill>
              <a:latin typeface="Sitka Text" pitchFamily="2" charset="0"/>
            </a:rPr>
            <a:t>Smart District Tele-Triage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5154802" y="1847769"/>
        <a:ext cx="1550836" cy="706871"/>
      </dsp:txXfrm>
    </dsp:sp>
    <dsp:sp modelId="{6928EF33-E16B-439A-A0DE-2145D336A061}">
      <dsp:nvSpPr>
        <dsp:cNvPr id="0" name=""/>
        <dsp:cNvSpPr/>
      </dsp:nvSpPr>
      <dsp:spPr>
        <a:xfrm>
          <a:off x="6767935" y="1960049"/>
          <a:ext cx="770765" cy="77076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6T05:23:32.9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1 634 24575,'11'-1'0,"1"0"0,-1 0 0,1-2 0,-1 1 0,0-1 0,0-1 0,0 0 0,0-1 0,-1 0 0,1 0 0,17-14 0,5-6 0,-2-1 0,29-31 0,-42 39 0,26-25 0,163-174 0,-199 207 0,-1 1 0,1-1 0,-2-1 0,10-19 0,-15 28 0,0 0 0,0-1 0,0 1 0,0 0 0,-1-1 0,1 1 0,-1-1 0,0 1 0,0-1 0,1 1 0,-2-1 0,1 1 0,0-1 0,0 1 0,-1-1 0,1 1 0,-1-1 0,0 1 0,0 0 0,0-1 0,0 1 0,0 0 0,-1 0 0,1 0 0,0 0 0,-1 0 0,0 0 0,1 0 0,-1 0 0,-3-1 0,-5-4 0,0 1 0,0 0 0,-1 1 0,0 0 0,0 1 0,0 0 0,-1 1 0,1 0 0,-22-2 0,5 3 0,0 0 0,1 2 0,-33 3 0,56-2 0,-1-1 0,1 2 0,0-1 0,-1 0 0,1 1 0,0 0 0,0 0 0,0 0 0,0 1 0,0-1 0,0 1 0,1 0 0,-1 0 0,1 0 0,0 1 0,0-1 0,0 1 0,1-1 0,-1 1 0,1 0 0,0 0 0,0 0 0,-2 5 0,-4 12 0,1 1 0,1 0 0,-6 33 0,7-25 0,0-11 0,1 0 0,1 1 0,1-1 0,1 1 0,1 0 0,0 0 0,7 37 0,-7-54 0,1 0 0,0 0 0,0-1 0,1 1 0,-1 0 0,0-1 0,1 1 0,0 0 0,-1-1 0,1 0 0,0 0 0,0 1 0,0-1 0,1 0 0,-1 0 0,0-1 0,1 1 0,4 2 0,1-1 0,1 0 0,-1-1 0,0 0 0,1 0 0,8 0 0,-7-1 0,-1 1 0,1 0 0,18 6 0,-3 3 0,0 0 0,2-2 0,-1-1 0,1-1 0,49 5 0,-66-11 0,-1-1 0,0 0 0,1 0 0,-1-1 0,0-1 0,0 1 0,0-1 0,0-1 0,0 0 0,0 0 0,-1-1 0,1 0 0,-1 0 0,0-1 0,0 0 0,-1-1 0,1 1 0,-1-2 0,-1 1 0,12-13 0,76-108-1365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1:47:04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24301,'1120'27'0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1:47:47.2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44 24551,'3907'0'0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07DD-7816-9682-7FD9-57CC3E05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89024D1E-3421-DF2A-8AE7-3FD7AA196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6CDDCF8B-67C3-EA28-B0DD-28B777A461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1F9386A5-D7F6-6914-7A6C-60CF3DE42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5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Relationship Id="rId9" Type="http://schemas.microsoft.com/office/2007/relationships/diagramDrawing" Target="../diagrams/drawing1.xml"/><Relationship Id="rId10" Type="http://schemas.openxmlformats.org/officeDocument/2006/relationships/diagramData" Target="../diagrams/data2.xml"/><Relationship Id="rId11" Type="http://schemas.openxmlformats.org/officeDocument/2006/relationships/diagramLayout" Target="../diagrams/layout2.xml"/><Relationship Id="rId12" Type="http://schemas.openxmlformats.org/officeDocument/2006/relationships/diagramQuickStyle" Target="../diagrams/quickStyle2.xml"/><Relationship Id="rId13" Type="http://schemas.openxmlformats.org/officeDocument/2006/relationships/diagramColors" Target="../diagrams/colors2.xml"/><Relationship Id="rId14" Type="http://schemas.microsoft.com/office/2007/relationships/diagramDrawing" Target="../diagrams/drawing2.xml"/><Relationship Id="rId15" Type="http://schemas.openxmlformats.org/officeDocument/2006/relationships/image" Target="../media/image10.jpeg"/><Relationship Id="rId16" Type="http://schemas.openxmlformats.org/officeDocument/2006/relationships/customXml" Target="../ink/ink1.xml"/><Relationship Id="rId17" Type="http://schemas.openxmlformats.org/officeDocument/2006/relationships/image" Target="../media/image12.png"/><Relationship Id="rId18" Type="http://schemas.openxmlformats.org/officeDocument/2006/relationships/image" Target="../media/image45.png"/><Relationship Id="rId19" Type="http://schemas.openxmlformats.org/officeDocument/2006/relationships/image" Target="../media/image4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jp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jpg"/><Relationship Id="rId13" Type="http://schemas.openxmlformats.org/officeDocument/2006/relationships/image" Target="../media/image21.png"/><Relationship Id="rId14" Type="http://schemas.openxmlformats.org/officeDocument/2006/relationships/customXml" Target="../ink/ink2.xml"/><Relationship Id="rId15" Type="http://schemas.openxmlformats.org/officeDocument/2006/relationships/image" Target="../media/image210.png"/><Relationship Id="rId16" Type="http://schemas.openxmlformats.org/officeDocument/2006/relationships/customXml" Target="../ink/ink3.xml"/><Relationship Id="rId17" Type="http://schemas.openxmlformats.org/officeDocument/2006/relationships/image" Target="../media/image220.png"/><Relationship Id="rId18" Type="http://schemas.openxmlformats.org/officeDocument/2006/relationships/image" Target="../media/image22.jpeg"/><Relationship Id="rId19" Type="http://schemas.openxmlformats.org/officeDocument/2006/relationships/hyperlink" Target="https://github.com/SahilShinde108/Drishti-Rakshak-AI" TargetMode="External"/><Relationship Id="rId20" Type="http://schemas.openxmlformats.org/officeDocument/2006/relationships/image" Target="../media/image23.svg"/><Relationship Id="rId21" Type="http://schemas.openxmlformats.org/officeDocument/2006/relationships/image" Target="../media/image24.png"/><Relationship Id="rId22" Type="http://schemas.openxmlformats.org/officeDocument/2006/relationships/image" Target="../media/image4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6.jpeg"/><Relationship Id="rId6" Type="http://schemas.openxmlformats.org/officeDocument/2006/relationships/image" Target="../media/image27.svg"/><Relationship Id="rId7" Type="http://schemas.openxmlformats.org/officeDocument/2006/relationships/image" Target="../media/image28.svg"/><Relationship Id="rId8" Type="http://schemas.openxmlformats.org/officeDocument/2006/relationships/image" Target="../media/image29.svg"/><Relationship Id="rId9" Type="http://schemas.openxmlformats.org/officeDocument/2006/relationships/image" Target="../media/image30.svg"/><Relationship Id="rId10" Type="http://schemas.openxmlformats.org/officeDocument/2006/relationships/image" Target="../media/image31.svg"/><Relationship Id="rId11" Type="http://schemas.openxmlformats.org/officeDocument/2006/relationships/image" Target="../media/image32.svg"/><Relationship Id="rId12" Type="http://schemas.openxmlformats.org/officeDocument/2006/relationships/image" Target="../media/image33.svg"/><Relationship Id="rId13" Type="http://schemas.openxmlformats.org/officeDocument/2006/relationships/image" Target="../media/image3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jpeg"/><Relationship Id="rId4" Type="http://schemas.openxmlformats.org/officeDocument/2006/relationships/image" Target="../media/image2.png"/><Relationship Id="rId5" Type="http://schemas.openxmlformats.org/officeDocument/2006/relationships/image" Target="../media/image36.svg"/><Relationship Id="rId6" Type="http://schemas.openxmlformats.org/officeDocument/2006/relationships/image" Target="../media/image37.svg"/><Relationship Id="rId7" Type="http://schemas.openxmlformats.org/officeDocument/2006/relationships/image" Target="../media/image38.svg"/><Relationship Id="rId8" Type="http://schemas.openxmlformats.org/officeDocument/2006/relationships/image" Target="../media/image39.svg"/><Relationship Id="rId9" Type="http://schemas.openxmlformats.org/officeDocument/2006/relationships/image" Target="../media/image40.svg"/><Relationship Id="rId10" Type="http://schemas.openxmlformats.org/officeDocument/2006/relationships/image" Target="../media/image41.svg"/><Relationship Id="rId11" Type="http://schemas.openxmlformats.org/officeDocument/2006/relationships/image" Target="../media/image42.svg"/><Relationship Id="rId12" Type="http://schemas.openxmlformats.org/officeDocument/2006/relationships/image" Target="../media/image4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kaggle.com/datasets/mariaherrerot/idrid-dataset" TargetMode="External"/><Relationship Id="rId5" Type="http://schemas.openxmlformats.org/officeDocument/2006/relationships/hyperlink" Target="https://www.kaggle.com/datasets/google-brain/messidor2-dr-grades" TargetMode="External"/><Relationship Id="rId6" Type="http://schemas.openxmlformats.org/officeDocument/2006/relationships/hyperlink" Target="https://www.kaggle.com/competitions/aptos2019-blindness-detection" TargetMode="External"/><Relationship Id="rId7" Type="http://schemas.openxmlformats.org/officeDocument/2006/relationships/hyperlink" Target="https://www.kaggle.com/competitions/diabetic-retinopathy-detection" TargetMode="External"/><Relationship Id="rId8" Type="http://schemas.openxmlformats.org/officeDocument/2006/relationships/image" Target="../media/image44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105119" y="207645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24596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874482"/>
            <a:ext cx="71332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Problem Statement ID – 26094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Dynamic Mental Health Monitoring and Distress Prediction System for Victims of Atrocities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/>
              <a:t>MedTech / </a:t>
            </a:r>
            <a:r>
              <a:rPr lang="en-IN" sz="2400" dirty="0" err="1"/>
              <a:t>BioTech</a:t>
            </a:r>
            <a:r>
              <a:rPr lang="en-IN" sz="2400" dirty="0"/>
              <a:t> / HealthTech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Visioneers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593D6-293A-8AD9-FE37-87CCEA50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A1B88E-E887-144F-AD0B-FE1EC721F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7B8ACF5A-8A1F-BBD3-BA22-869915E8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58" y="-503239"/>
            <a:ext cx="10972800" cy="929365"/>
          </a:xfrm>
        </p:spPr>
        <p:txBody>
          <a:bodyPr/>
          <a:lstStyle/>
          <a:p>
            <a:r>
              <a:t>ManoRakshak.AI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1A7B-B973-CE2F-5F44-F895DFB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3E03D3-5E8C-3AF5-FDD1-945A4B32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BDC202-760A-D9E4-32F0-045EDB10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50323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B03FD19B-4891-A443-E161-777C190390A8}"/>
              </a:ext>
            </a:extLst>
          </p:cNvPr>
          <p:cNvGrpSpPr/>
          <p:nvPr/>
        </p:nvGrpSpPr>
        <p:grpSpPr>
          <a:xfrm>
            <a:off x="127828" y="498861"/>
            <a:ext cx="3876535" cy="3067671"/>
            <a:chOff x="172945" y="597161"/>
            <a:chExt cx="3876535" cy="2820370"/>
          </a:xfrm>
          <a:solidFill>
            <a:srgbClr val="FEF2F2"/>
          </a:solidFill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0DCAC9E-62CE-17E7-2C6D-1C0BD4BBE488}"/>
                </a:ext>
              </a:extLst>
            </p:cNvPr>
            <p:cNvGrpSpPr/>
            <p:nvPr/>
          </p:nvGrpSpPr>
          <p:grpSpPr>
            <a:xfrm>
              <a:off x="172945" y="597161"/>
              <a:ext cx="3876535" cy="2820370"/>
              <a:chOff x="221833" y="1304895"/>
              <a:chExt cx="4349994" cy="3814657"/>
            </a:xfrm>
            <a:grpFill/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68E43F5-05C4-4D80-89BE-A5B832086A86}"/>
                  </a:ext>
                </a:extLst>
              </p:cNvPr>
              <p:cNvSpPr/>
              <p:nvPr/>
            </p:nvSpPr>
            <p:spPr>
              <a:xfrm>
                <a:off x="221833" y="1304895"/>
                <a:ext cx="4349994" cy="3814657"/>
              </a:xfrm>
              <a:custGeom>
                <a:avLst/>
                <a:gdLst>
                  <a:gd name="connsiteX0" fmla="*/ 0 w 5224206"/>
                  <a:gd name="connsiteY0" fmla="*/ 0 h 2854800"/>
                  <a:gd name="connsiteX1" fmla="*/ 5224206 w 5224206"/>
                  <a:gd name="connsiteY1" fmla="*/ 0 h 2854800"/>
                  <a:gd name="connsiteX2" fmla="*/ 5224206 w 5224206"/>
                  <a:gd name="connsiteY2" fmla="*/ 2854800 h 2854800"/>
                  <a:gd name="connsiteX3" fmla="*/ 0 w 5224206"/>
                  <a:gd name="connsiteY3" fmla="*/ 2854800 h 2854800"/>
                  <a:gd name="connsiteX4" fmla="*/ 0 w 5224206"/>
                  <a:gd name="connsiteY4" fmla="*/ 0 h 285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24206" h="2854800">
                    <a:moveTo>
                      <a:pt x="0" y="0"/>
                    </a:moveTo>
                    <a:lnTo>
                      <a:pt x="5224206" y="0"/>
                    </a:lnTo>
                    <a:lnTo>
                      <a:pt x="5224206" y="2854800"/>
                    </a:lnTo>
                    <a:lnTo>
                      <a:pt x="0" y="285480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DC262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spcFirstLastPara="0" vert="horz" wrap="square" lIns="346710" tIns="346710" rIns="462280" bIns="520065" numCol="1" spcCol="1270" anchor="t" anchorCtr="0">
                <a:noAutofit/>
              </a:bodyPr>
              <a:lstStyle/>
              <a:p>
                <a:pPr marL="285750" lvl="1" indent="-285750" algn="l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en-IN" sz="6500" kern="1200" dirty="0"/>
              </a:p>
              <a:p>
                <a:pPr marL="285750" lvl="1" indent="-285750" algn="l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en-IN" sz="6500" kern="1200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1E0427-A5AD-939F-9618-86582C6BA85B}"/>
                  </a:ext>
                </a:extLst>
              </p:cNvPr>
              <p:cNvSpPr txBox="1"/>
              <p:nvPr/>
            </p:nvSpPr>
            <p:spPr>
              <a:xfrm>
                <a:off x="277924" y="1331765"/>
                <a:ext cx="4243276" cy="459265"/>
              </a:xfrm>
              <a:prstGeom prst="rect">
                <a:avLst/>
              </a:prstGeom>
              <a:grpFill/>
              <a:ln>
                <a:solidFill>
                  <a:srgbClr val="DC262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rgbClr val="991B1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World Issue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B89C53F-0C32-339B-6F07-C3329E84243E}"/>
                </a:ext>
              </a:extLst>
            </p:cNvPr>
            <p:cNvSpPr txBox="1"/>
            <p:nvPr/>
          </p:nvSpPr>
          <p:spPr>
            <a:xfrm>
              <a:off x="186130" y="948610"/>
              <a:ext cx="3850163" cy="2462213"/>
            </a:xfrm>
            <a:prstGeom prst="rect">
              <a:avLst/>
            </a:prstGeom>
            <a:grpFill/>
            <a:ln>
              <a:solidFill>
                <a:srgbClr val="DC2626"/>
              </a:solidFill>
            </a:ln>
          </p:spPr>
          <p:txBody>
            <a:bodyPr wrap="square">
              <a:spAutoFit/>
            </a:bodyPr>
            <a:lstStyle/>
            <a:p>
              <a:pPr marL="285750" lvl="0" indent="-285750" algn="just">
                <a:buFont typeface="Wingdings" panose="05000000000000000000" pitchFamily="2" charset="2"/>
                <a:buChar char="q"/>
              </a:pPr>
              <a:r>
                <a:rPr b="1" sz="1500"/>
                <a:t>The Threat: </a:t>
              </a:r>
              <a:r>
                <a:rPr b="0" sz="1500"/>
                <a:t>Atrocity victims face prolonged severe psychological distress post-registration due to threats, court delays, social ostracism &amp; rehabilitation trauma.</a:t>
              </a:r>
            </a:p>
            <a:p>
              <a:pPr marL="285750" lvl="0" indent="-285750" algn="just">
                <a:buFont typeface="Wingdings" panose="05000000000000000000" pitchFamily="2" charset="2"/>
                <a:buChar char="q"/>
              </a:pPr>
              <a:r>
                <a:rPr b="1" sz="1500"/>
                <a:t>The Bottleneck: </a:t>
              </a:r>
              <a:r>
                <a:rPr b="0" sz="1500"/>
                <a:t>Existing mechanisms focus solely on financial/legal support, with zero continuous mental health monitoring.</a:t>
              </a:r>
            </a:p>
            <a:p>
              <a:pPr marL="285750" lvl="0" indent="-285750" algn="just">
                <a:buFont typeface="Wingdings" panose="05000000000000000000" pitchFamily="2" charset="2"/>
                <a:buChar char="q"/>
              </a:pPr>
              <a:r>
                <a:rPr b="1" sz="1500"/>
                <a:t>The Fallout: </a:t>
              </a:r>
              <a:r>
                <a:rPr b="0" sz="1500"/>
                <a:t>Unmonitored distress escalates into severe mental health crises, PTSD, self-harm, or non-cooperation in trials.</a:t>
              </a:r>
            </a:p>
            <a:p>
              <a:pPr marL="285750" lvl="0" indent="-285750" algn="just">
                <a:buFont typeface="Wingdings" panose="05000000000000000000" pitchFamily="2" charset="2"/>
                <a:buChar char="q"/>
              </a:pPr>
              <a:r>
                <a:rPr b="1" sz="1500"/>
                <a:t>The Flaw: </a:t>
              </a:r>
              <a:r>
                <a:rPr b="0" sz="1500"/>
                <a:t>Fragmented channels (NHAA 14566, portal, app, IVRS) lack dynamic distress tracking, emotion AI &amp; early warning alerts.</a:t>
              </a: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5F4F1306-A0C8-0911-B820-624D1247F163}"/>
              </a:ext>
            </a:extLst>
          </p:cNvPr>
          <p:cNvSpPr/>
          <p:nvPr/>
        </p:nvSpPr>
        <p:spPr>
          <a:xfrm>
            <a:off x="4200425" y="511643"/>
            <a:ext cx="7791184" cy="5757601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5728F72-3A88-1B77-0684-2E6D0B2356AF}"/>
              </a:ext>
            </a:extLst>
          </p:cNvPr>
          <p:cNvGrpSpPr/>
          <p:nvPr/>
        </p:nvGrpSpPr>
        <p:grpSpPr>
          <a:xfrm>
            <a:off x="4370621" y="474524"/>
            <a:ext cx="7554681" cy="5996838"/>
            <a:chOff x="4395817" y="397106"/>
            <a:chExt cx="7554681" cy="599683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D8BD49B-7D65-0EE4-1EF3-FAC5C05DF034}"/>
                </a:ext>
              </a:extLst>
            </p:cNvPr>
            <p:cNvSpPr txBox="1"/>
            <p:nvPr/>
          </p:nvSpPr>
          <p:spPr>
            <a:xfrm>
              <a:off x="4843426" y="397106"/>
              <a:ext cx="615990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IN" sz="2000" b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Solution </a:t>
              </a:r>
            </a:p>
          </p:txBody>
        </p:sp>
      </p:grpSp>
      <p:sp>
        <p:nvSpPr>
          <p:cNvPr id="48" name="Oval 47" descr="Your startup LOGO">
            <a:extLst>
              <a:ext uri="{FF2B5EF4-FFF2-40B4-BE49-F238E27FC236}">
                <a16:creationId xmlns:a16="http://schemas.microsoft.com/office/drawing/2014/main" id="{07B58B32-3CC3-0FFB-045A-FA36249F50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828" y="12737"/>
            <a:ext cx="1685840" cy="41584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Visioneers</a:t>
            </a:r>
            <a:endParaRPr lang="en-IN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CE8E4B9-92FD-FDBE-6D16-43FA88A4FC5D}"/>
                  </a:ext>
                </a:extLst>
              </p14:cNvPr>
              <p14:cNvContentPartPr/>
              <p14:nvPr/>
            </p14:nvContentPartPr>
            <p14:xfrm>
              <a:off x="550370" y="3891492"/>
              <a:ext cx="291600" cy="228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CE8E4B9-92FD-FDBE-6D16-43FA88A4FC5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7730" y="3828852"/>
                <a:ext cx="417240" cy="353880"/>
              </a:xfrm>
              <a:prstGeom prst="rect">
                <a:avLst/>
              </a:prstGeom>
            </p:spPr>
          </p:pic>
        </mc:Fallback>
      </mc:AlternateContent>
      <p:pic>
        <p:nvPicPr>
          <p:cNvPr id="15362" name="Picture 15361" descr="slide2_diagram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" y="3653265"/>
            <a:ext cx="4103924" cy="2703088"/>
          </a:xfrm>
          <a:prstGeom prst="rect">
            <a:avLst/>
          </a:prstGeom>
        </p:spPr>
      </p:pic>
      <p:pic>
        <p:nvPicPr>
          <p:cNvPr id="15363" name="Picture 15362" descr="proposed_solution_card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95817" y="1100000"/>
            <a:ext cx="7554681" cy="5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5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73588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058" y="1501"/>
            <a:ext cx="1892878" cy="5870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169330-BAC9-4613-55FC-2118EE500C83}"/>
              </a:ext>
            </a:extLst>
          </p:cNvPr>
          <p:cNvSpPr txBox="1"/>
          <p:nvPr/>
        </p:nvSpPr>
        <p:spPr>
          <a:xfrm>
            <a:off x="1403469" y="529140"/>
            <a:ext cx="29620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tx2"/>
                </a:solidFill>
              </a:rPr>
              <a:t>System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200" b="1" dirty="0">
                <a:solidFill>
                  <a:schemeClr val="tx2"/>
                </a:solidFill>
              </a:rPr>
              <a:t>Methodology</a:t>
            </a:r>
            <a:endParaRPr lang="en-IN" sz="2200" b="1" dirty="0">
              <a:solidFill>
                <a:schemeClr val="tx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AE13DE-326E-F020-ADD3-E6E6335A392C}"/>
              </a:ext>
            </a:extLst>
          </p:cNvPr>
          <p:cNvCxnSpPr>
            <a:cxnSpLocks/>
          </p:cNvCxnSpPr>
          <p:nvPr/>
        </p:nvCxnSpPr>
        <p:spPr>
          <a:xfrm>
            <a:off x="9581704" y="945421"/>
            <a:ext cx="0" cy="5393953"/>
          </a:xfrm>
          <a:prstGeom prst="line">
            <a:avLst/>
          </a:prstGeom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9018768-445D-1C13-0E69-58489EF3CAE5}"/>
              </a:ext>
            </a:extLst>
          </p:cNvPr>
          <p:cNvSpPr txBox="1"/>
          <p:nvPr/>
        </p:nvSpPr>
        <p:spPr>
          <a:xfrm>
            <a:off x="9798291" y="727270"/>
            <a:ext cx="29620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tx2"/>
                </a:solidFill>
              </a:rPr>
              <a:t>Tech Stack</a:t>
            </a:r>
            <a:endParaRPr lang="en-IN" sz="2200" b="1" dirty="0">
              <a:solidFill>
                <a:schemeClr val="tx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FF8176-98B6-0559-1071-8EF65ED25C48}"/>
              </a:ext>
            </a:extLst>
          </p:cNvPr>
          <p:cNvSpPr txBox="1"/>
          <p:nvPr/>
        </p:nvSpPr>
        <p:spPr>
          <a:xfrm>
            <a:off x="11051458" y="1980633"/>
            <a:ext cx="1649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6E1D13-0C04-F505-B0E4-CEBBFBB5DFC7}"/>
              </a:ext>
            </a:extLst>
          </p:cNvPr>
          <p:cNvSpPr txBox="1"/>
          <p:nvPr/>
        </p:nvSpPr>
        <p:spPr>
          <a:xfrm>
            <a:off x="10819501" y="3013093"/>
            <a:ext cx="1649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PYTORCH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FD2E87-5A11-C09D-EB46-4231AA93D874}"/>
              </a:ext>
            </a:extLst>
          </p:cNvPr>
          <p:cNvSpPr txBox="1"/>
          <p:nvPr/>
        </p:nvSpPr>
        <p:spPr>
          <a:xfrm>
            <a:off x="11051457" y="4235895"/>
            <a:ext cx="1649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Wav2Vec 2.0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4DBA5C-4543-C8AE-63DB-93B1FAB0A4C5}"/>
              </a:ext>
            </a:extLst>
          </p:cNvPr>
          <p:cNvGrpSpPr/>
          <p:nvPr/>
        </p:nvGrpSpPr>
        <p:grpSpPr>
          <a:xfrm>
            <a:off x="9730060" y="1116174"/>
            <a:ext cx="3098516" cy="3766220"/>
            <a:chOff x="9741839" y="960027"/>
            <a:chExt cx="3098516" cy="433030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69F1724-F16B-2DD0-D297-319B9F01462C}"/>
                </a:ext>
              </a:extLst>
            </p:cNvPr>
            <p:cNvGrpSpPr/>
            <p:nvPr/>
          </p:nvGrpSpPr>
          <p:grpSpPr>
            <a:xfrm>
              <a:off x="9741839" y="960027"/>
              <a:ext cx="2908530" cy="4330307"/>
              <a:chOff x="9626076" y="1168270"/>
              <a:chExt cx="3036284" cy="4997993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2B7A65-0C42-9EA3-4D83-20185F0745D7}"/>
                  </a:ext>
                </a:extLst>
              </p:cNvPr>
              <p:cNvSpPr txBox="1"/>
              <p:nvPr/>
            </p:nvSpPr>
            <p:spPr>
              <a:xfrm>
                <a:off x="9645447" y="1168270"/>
                <a:ext cx="2290912" cy="4997993"/>
              </a:xfrm>
              <a:custGeom>
                <a:avLst/>
                <a:gdLst>
                  <a:gd name="csX0" fmla="*/ 0 w 2290912"/>
                  <a:gd name="csY0" fmla="*/ 381826 h 4997993"/>
                  <a:gd name="csX1" fmla="*/ 381826 w 2290912"/>
                  <a:gd name="csY1" fmla="*/ 0 h 4997993"/>
                  <a:gd name="csX2" fmla="*/ 890913 w 2290912"/>
                  <a:gd name="csY2" fmla="*/ 0 h 4997993"/>
                  <a:gd name="csX3" fmla="*/ 1369454 w 2290912"/>
                  <a:gd name="csY3" fmla="*/ 0 h 4997993"/>
                  <a:gd name="csX4" fmla="*/ 1909086 w 2290912"/>
                  <a:gd name="csY4" fmla="*/ 0 h 4997993"/>
                  <a:gd name="csX5" fmla="*/ 2290912 w 2290912"/>
                  <a:gd name="csY5" fmla="*/ 381826 h 4997993"/>
                  <a:gd name="csX6" fmla="*/ 2290912 w 2290912"/>
                  <a:gd name="csY6" fmla="*/ 859702 h 4997993"/>
                  <a:gd name="csX7" fmla="*/ 2290912 w 2290912"/>
                  <a:gd name="csY7" fmla="*/ 1379921 h 4997993"/>
                  <a:gd name="csX8" fmla="*/ 2290912 w 2290912"/>
                  <a:gd name="csY8" fmla="*/ 1900140 h 4997993"/>
                  <a:gd name="csX9" fmla="*/ 2290912 w 2290912"/>
                  <a:gd name="csY9" fmla="*/ 2589732 h 4997993"/>
                  <a:gd name="csX10" fmla="*/ 2290912 w 2290912"/>
                  <a:gd name="csY10" fmla="*/ 3279325 h 4997993"/>
                  <a:gd name="csX11" fmla="*/ 2290912 w 2290912"/>
                  <a:gd name="csY11" fmla="*/ 3968918 h 4997993"/>
                  <a:gd name="csX12" fmla="*/ 2290912 w 2290912"/>
                  <a:gd name="csY12" fmla="*/ 4616167 h 4997993"/>
                  <a:gd name="csX13" fmla="*/ 1909086 w 2290912"/>
                  <a:gd name="csY13" fmla="*/ 4997993 h 4997993"/>
                  <a:gd name="csX14" fmla="*/ 1384727 w 2290912"/>
                  <a:gd name="csY14" fmla="*/ 4997993 h 4997993"/>
                  <a:gd name="csX15" fmla="*/ 890913 w 2290912"/>
                  <a:gd name="csY15" fmla="*/ 4997993 h 4997993"/>
                  <a:gd name="csX16" fmla="*/ 381826 w 2290912"/>
                  <a:gd name="csY16" fmla="*/ 4997993 h 4997993"/>
                  <a:gd name="csX17" fmla="*/ 0 w 2290912"/>
                  <a:gd name="csY17" fmla="*/ 4616167 h 4997993"/>
                  <a:gd name="csX18" fmla="*/ 0 w 2290912"/>
                  <a:gd name="csY18" fmla="*/ 4138291 h 4997993"/>
                  <a:gd name="csX19" fmla="*/ 0 w 2290912"/>
                  <a:gd name="csY19" fmla="*/ 3575729 h 4997993"/>
                  <a:gd name="csX20" fmla="*/ 0 w 2290912"/>
                  <a:gd name="csY20" fmla="*/ 2928480 h 4997993"/>
                  <a:gd name="csX21" fmla="*/ 0 w 2290912"/>
                  <a:gd name="csY21" fmla="*/ 2408261 h 4997993"/>
                  <a:gd name="csX22" fmla="*/ 0 w 2290912"/>
                  <a:gd name="csY22" fmla="*/ 1761011 h 4997993"/>
                  <a:gd name="csX23" fmla="*/ 0 w 2290912"/>
                  <a:gd name="csY23" fmla="*/ 1156105 h 4997993"/>
                  <a:gd name="csX24" fmla="*/ 0 w 2290912"/>
                  <a:gd name="csY24" fmla="*/ 381826 h 49979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2290912" h="4997993" fill="none" extrusionOk="0">
                    <a:moveTo>
                      <a:pt x="0" y="381826"/>
                    </a:moveTo>
                    <a:cubicBezTo>
                      <a:pt x="36037" y="199018"/>
                      <a:pt x="158164" y="-27033"/>
                      <a:pt x="381826" y="0"/>
                    </a:cubicBezTo>
                    <a:cubicBezTo>
                      <a:pt x="585421" y="16822"/>
                      <a:pt x="716454" y="12314"/>
                      <a:pt x="890913" y="0"/>
                    </a:cubicBezTo>
                    <a:cubicBezTo>
                      <a:pt x="1065372" y="-12314"/>
                      <a:pt x="1209749" y="-4847"/>
                      <a:pt x="1369454" y="0"/>
                    </a:cubicBezTo>
                    <a:cubicBezTo>
                      <a:pt x="1529159" y="4847"/>
                      <a:pt x="1719968" y="21959"/>
                      <a:pt x="1909086" y="0"/>
                    </a:cubicBezTo>
                    <a:cubicBezTo>
                      <a:pt x="2098810" y="26553"/>
                      <a:pt x="2279431" y="138096"/>
                      <a:pt x="2290912" y="381826"/>
                    </a:cubicBezTo>
                    <a:cubicBezTo>
                      <a:pt x="2303637" y="565208"/>
                      <a:pt x="2276640" y="699997"/>
                      <a:pt x="2290912" y="859702"/>
                    </a:cubicBezTo>
                    <a:cubicBezTo>
                      <a:pt x="2305184" y="1019407"/>
                      <a:pt x="2284690" y="1226057"/>
                      <a:pt x="2290912" y="1379921"/>
                    </a:cubicBezTo>
                    <a:cubicBezTo>
                      <a:pt x="2297134" y="1533785"/>
                      <a:pt x="2291543" y="1777025"/>
                      <a:pt x="2290912" y="1900140"/>
                    </a:cubicBezTo>
                    <a:cubicBezTo>
                      <a:pt x="2290281" y="2023255"/>
                      <a:pt x="2259547" y="2345268"/>
                      <a:pt x="2290912" y="2589732"/>
                    </a:cubicBezTo>
                    <a:cubicBezTo>
                      <a:pt x="2322277" y="2834196"/>
                      <a:pt x="2262999" y="3081865"/>
                      <a:pt x="2290912" y="3279325"/>
                    </a:cubicBezTo>
                    <a:cubicBezTo>
                      <a:pt x="2318825" y="3476785"/>
                      <a:pt x="2262393" y="3823167"/>
                      <a:pt x="2290912" y="3968918"/>
                    </a:cubicBezTo>
                    <a:cubicBezTo>
                      <a:pt x="2319431" y="4114669"/>
                      <a:pt x="2322934" y="4473838"/>
                      <a:pt x="2290912" y="4616167"/>
                    </a:cubicBezTo>
                    <a:cubicBezTo>
                      <a:pt x="2247497" y="4852044"/>
                      <a:pt x="2121540" y="5016688"/>
                      <a:pt x="1909086" y="4997993"/>
                    </a:cubicBezTo>
                    <a:cubicBezTo>
                      <a:pt x="1695716" y="4978868"/>
                      <a:pt x="1491185" y="5021632"/>
                      <a:pt x="1384727" y="4997993"/>
                    </a:cubicBezTo>
                    <a:cubicBezTo>
                      <a:pt x="1278269" y="4974354"/>
                      <a:pt x="1117549" y="4984707"/>
                      <a:pt x="890913" y="4997993"/>
                    </a:cubicBezTo>
                    <a:cubicBezTo>
                      <a:pt x="664277" y="5011279"/>
                      <a:pt x="500353" y="5002126"/>
                      <a:pt x="381826" y="4997993"/>
                    </a:cubicBezTo>
                    <a:cubicBezTo>
                      <a:pt x="166322" y="4991830"/>
                      <a:pt x="1534" y="4834737"/>
                      <a:pt x="0" y="4616167"/>
                    </a:cubicBezTo>
                    <a:cubicBezTo>
                      <a:pt x="-8738" y="4424089"/>
                      <a:pt x="19968" y="4271567"/>
                      <a:pt x="0" y="4138291"/>
                    </a:cubicBezTo>
                    <a:cubicBezTo>
                      <a:pt x="-19968" y="4005015"/>
                      <a:pt x="-19131" y="3703040"/>
                      <a:pt x="0" y="3575729"/>
                    </a:cubicBezTo>
                    <a:cubicBezTo>
                      <a:pt x="19131" y="3448418"/>
                      <a:pt x="-14596" y="3137943"/>
                      <a:pt x="0" y="2928480"/>
                    </a:cubicBezTo>
                    <a:cubicBezTo>
                      <a:pt x="14596" y="2719017"/>
                      <a:pt x="-25412" y="2565262"/>
                      <a:pt x="0" y="2408261"/>
                    </a:cubicBezTo>
                    <a:cubicBezTo>
                      <a:pt x="25412" y="2251260"/>
                      <a:pt x="6925" y="1993248"/>
                      <a:pt x="0" y="1761011"/>
                    </a:cubicBezTo>
                    <a:cubicBezTo>
                      <a:pt x="-6925" y="1528774"/>
                      <a:pt x="10752" y="1367238"/>
                      <a:pt x="0" y="1156105"/>
                    </a:cubicBezTo>
                    <a:cubicBezTo>
                      <a:pt x="-10752" y="944972"/>
                      <a:pt x="-27197" y="660419"/>
                      <a:pt x="0" y="381826"/>
                    </a:cubicBezTo>
                    <a:close/>
                  </a:path>
                  <a:path w="2290912" h="4997993" stroke="0" extrusionOk="0">
                    <a:moveTo>
                      <a:pt x="0" y="381826"/>
                    </a:moveTo>
                    <a:cubicBezTo>
                      <a:pt x="14982" y="152614"/>
                      <a:pt x="169362" y="-6745"/>
                      <a:pt x="381826" y="0"/>
                    </a:cubicBezTo>
                    <a:cubicBezTo>
                      <a:pt x="521072" y="-17148"/>
                      <a:pt x="755530" y="17434"/>
                      <a:pt x="860367" y="0"/>
                    </a:cubicBezTo>
                    <a:cubicBezTo>
                      <a:pt x="965204" y="-17434"/>
                      <a:pt x="1160983" y="4070"/>
                      <a:pt x="1323636" y="0"/>
                    </a:cubicBezTo>
                    <a:cubicBezTo>
                      <a:pt x="1486289" y="-4070"/>
                      <a:pt x="1699444" y="-18240"/>
                      <a:pt x="1909086" y="0"/>
                    </a:cubicBezTo>
                    <a:cubicBezTo>
                      <a:pt x="2158310" y="7520"/>
                      <a:pt x="2312550" y="203663"/>
                      <a:pt x="2290912" y="381826"/>
                    </a:cubicBezTo>
                    <a:cubicBezTo>
                      <a:pt x="2291542" y="501525"/>
                      <a:pt x="2297080" y="739527"/>
                      <a:pt x="2290912" y="859702"/>
                    </a:cubicBezTo>
                    <a:cubicBezTo>
                      <a:pt x="2284744" y="979877"/>
                      <a:pt x="2267572" y="1229852"/>
                      <a:pt x="2290912" y="1337577"/>
                    </a:cubicBezTo>
                    <a:cubicBezTo>
                      <a:pt x="2314252" y="1445302"/>
                      <a:pt x="2297203" y="1778779"/>
                      <a:pt x="2290912" y="2027170"/>
                    </a:cubicBezTo>
                    <a:cubicBezTo>
                      <a:pt x="2284621" y="2275561"/>
                      <a:pt x="2261243" y="2498968"/>
                      <a:pt x="2290912" y="2632076"/>
                    </a:cubicBezTo>
                    <a:cubicBezTo>
                      <a:pt x="2320581" y="2765184"/>
                      <a:pt x="2317575" y="3165477"/>
                      <a:pt x="2290912" y="3321668"/>
                    </a:cubicBezTo>
                    <a:cubicBezTo>
                      <a:pt x="2264249" y="3477859"/>
                      <a:pt x="2309647" y="3574732"/>
                      <a:pt x="2290912" y="3799544"/>
                    </a:cubicBezTo>
                    <a:cubicBezTo>
                      <a:pt x="2272177" y="4024356"/>
                      <a:pt x="2323234" y="4325077"/>
                      <a:pt x="2290912" y="4616167"/>
                    </a:cubicBezTo>
                    <a:cubicBezTo>
                      <a:pt x="2318208" y="4837953"/>
                      <a:pt x="2131825" y="4952404"/>
                      <a:pt x="1909086" y="4997993"/>
                    </a:cubicBezTo>
                    <a:cubicBezTo>
                      <a:pt x="1687037" y="5020115"/>
                      <a:pt x="1511023" y="4996418"/>
                      <a:pt x="1399999" y="4997993"/>
                    </a:cubicBezTo>
                    <a:cubicBezTo>
                      <a:pt x="1288975" y="4999568"/>
                      <a:pt x="1161847" y="5001345"/>
                      <a:pt x="936730" y="4997993"/>
                    </a:cubicBezTo>
                    <a:cubicBezTo>
                      <a:pt x="711613" y="4994641"/>
                      <a:pt x="562927" y="4972536"/>
                      <a:pt x="381826" y="4997993"/>
                    </a:cubicBezTo>
                    <a:cubicBezTo>
                      <a:pt x="190951" y="4992895"/>
                      <a:pt x="-10409" y="4794787"/>
                      <a:pt x="0" y="4616167"/>
                    </a:cubicBezTo>
                    <a:cubicBezTo>
                      <a:pt x="-1609" y="4339048"/>
                      <a:pt x="6180" y="4249710"/>
                      <a:pt x="0" y="3968918"/>
                    </a:cubicBezTo>
                    <a:cubicBezTo>
                      <a:pt x="-6180" y="3688126"/>
                      <a:pt x="-9302" y="3562603"/>
                      <a:pt x="0" y="3364012"/>
                    </a:cubicBezTo>
                    <a:cubicBezTo>
                      <a:pt x="9302" y="3165421"/>
                      <a:pt x="-16170" y="2988945"/>
                      <a:pt x="0" y="2843793"/>
                    </a:cubicBezTo>
                    <a:cubicBezTo>
                      <a:pt x="16170" y="2698641"/>
                      <a:pt x="2346" y="2334696"/>
                      <a:pt x="0" y="2196544"/>
                    </a:cubicBezTo>
                    <a:cubicBezTo>
                      <a:pt x="-2346" y="2058392"/>
                      <a:pt x="12540" y="1919659"/>
                      <a:pt x="0" y="1718668"/>
                    </a:cubicBezTo>
                    <a:cubicBezTo>
                      <a:pt x="-12540" y="1517677"/>
                      <a:pt x="-12112" y="1474051"/>
                      <a:pt x="0" y="1240792"/>
                    </a:cubicBezTo>
                    <a:cubicBezTo>
                      <a:pt x="12112" y="1007533"/>
                      <a:pt x="18828" y="659552"/>
                      <a:pt x="0" y="3818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635826949">
                      <a:prstGeom prst="round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endParaRPr lang="en-IN" dirty="0"/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78F6FC9C-0230-044B-BFD1-0E926AF82B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4481" t="25232" r="12918" b="31047"/>
              <a:stretch>
                <a:fillRect/>
              </a:stretch>
            </p:blipFill>
            <p:spPr>
              <a:xfrm>
                <a:off x="9723283" y="1356770"/>
                <a:ext cx="905388" cy="727670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BE4CDF99-2CA1-FB56-58D3-E0242E96E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62387" t="3475" r="6507" b="52145"/>
              <a:stretch>
                <a:fillRect/>
              </a:stretch>
            </p:blipFill>
            <p:spPr>
              <a:xfrm>
                <a:off x="9723283" y="2319947"/>
                <a:ext cx="1020181" cy="727670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BECE74-203C-E6E3-5E6E-0E2638B852D3}"/>
                  </a:ext>
                </a:extLst>
              </p:cNvPr>
              <p:cNvSpPr txBox="1"/>
              <p:nvPr/>
            </p:nvSpPr>
            <p:spPr>
              <a:xfrm>
                <a:off x="9759418" y="2967512"/>
                <a:ext cx="16497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mBERT / NLP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4384344-4ADD-C9DF-6E0B-3FB2E8A7CF4E}"/>
                  </a:ext>
                </a:extLst>
              </p:cNvPr>
              <p:cNvSpPr txBox="1"/>
              <p:nvPr/>
            </p:nvSpPr>
            <p:spPr>
              <a:xfrm>
                <a:off x="9759418" y="1966173"/>
                <a:ext cx="16497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Librosa</a:t>
                </a: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BC03085-9871-4DFF-41FE-1AB786F91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15973" y="3410942"/>
                <a:ext cx="812698" cy="812698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42AD37D-A13E-2DD0-2358-184B9F8C01DA}"/>
                  </a:ext>
                </a:extLst>
              </p:cNvPr>
              <p:cNvSpPr txBox="1"/>
              <p:nvPr/>
            </p:nvSpPr>
            <p:spPr>
              <a:xfrm>
                <a:off x="9626076" y="4167757"/>
                <a:ext cx="16497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EMOTION AI</a:t>
                </a:r>
              </a:p>
            </p:txBody>
          </p: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2BB1E51B-9A9C-3BB5-4976-446DFABAD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51458" y="1394464"/>
                <a:ext cx="691377" cy="604719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0723F7A-5461-75BF-7A63-CF7F046A8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71605" y="4573360"/>
                <a:ext cx="812698" cy="716508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B0B5287-F6AB-4D18-5CB3-743B42417EF4}"/>
                  </a:ext>
                </a:extLst>
              </p:cNvPr>
              <p:cNvSpPr txBox="1"/>
              <p:nvPr/>
            </p:nvSpPr>
            <p:spPr>
              <a:xfrm>
                <a:off x="9786353" y="5190800"/>
                <a:ext cx="16497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SHAP / XAI</a:t>
                </a:r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9717114-5E94-A727-E2D1-0D7776D7F1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51458" y="2031131"/>
                <a:ext cx="828125" cy="1273765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5C9AFCDA-92D2-D38E-94A7-05CBE6E82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57495" y="5633929"/>
                <a:ext cx="1524011" cy="392115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DB834146-43D6-1C01-2A06-CA47BB80D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r="17344" b="39860"/>
              <a:stretch>
                <a:fillRect/>
              </a:stretch>
            </p:blipFill>
            <p:spPr>
              <a:xfrm>
                <a:off x="11051458" y="3458970"/>
                <a:ext cx="836080" cy="812698"/>
              </a:xfrm>
              <a:prstGeom prst="rect">
                <a:avLst/>
              </a:prstGeom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8356E8C4-63F0-696F-B5F9-985F764A21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l="4020" r="4859"/>
              <a:stretch>
                <a:fillRect/>
              </a:stretch>
            </p:blipFill>
            <p:spPr>
              <a:xfrm>
                <a:off x="11113208" y="4577276"/>
                <a:ext cx="766375" cy="647154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8E5B0B-8EA7-511D-87EB-52C69B1D7007}"/>
                  </a:ext>
                </a:extLst>
              </p:cNvPr>
              <p:cNvSpPr txBox="1"/>
              <p:nvPr/>
            </p:nvSpPr>
            <p:spPr>
              <a:xfrm>
                <a:off x="11012589" y="1999183"/>
                <a:ext cx="16497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PYTHON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3384AC-BDA1-BB7F-F106-A97FE3F7CCDA}"/>
                  </a:ext>
                </a:extLst>
              </p:cNvPr>
              <p:cNvSpPr txBox="1"/>
              <p:nvPr/>
            </p:nvSpPr>
            <p:spPr>
              <a:xfrm>
                <a:off x="10770443" y="3028481"/>
                <a:ext cx="16497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PYTORCH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2C377A-714E-4780-4BC1-A1D56D6E2D66}"/>
                  </a:ext>
                </a:extLst>
              </p:cNvPr>
              <p:cNvSpPr txBox="1"/>
              <p:nvPr/>
            </p:nvSpPr>
            <p:spPr>
              <a:xfrm>
                <a:off x="11008266" y="4202265"/>
                <a:ext cx="16497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Wav2Vec 2.0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5C10708-B9FB-2246-AD40-B04B953F34F1}"/>
                </a:ext>
              </a:extLst>
            </p:cNvPr>
            <p:cNvSpPr txBox="1"/>
            <p:nvPr/>
          </p:nvSpPr>
          <p:spPr>
            <a:xfrm>
              <a:off x="11190584" y="4445184"/>
              <a:ext cx="16497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t>FastAPI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A0EBB3F-7276-210E-238B-5028C2C4B8A7}"/>
                  </a:ext>
                </a:extLst>
              </p14:cNvPr>
              <p14:cNvContentPartPr/>
              <p14:nvPr/>
            </p14:nvContentPartPr>
            <p14:xfrm>
              <a:off x="5613770" y="2074347"/>
              <a:ext cx="403560" cy="10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A0EBB3F-7276-210E-238B-5028C2C4B8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07650" y="2068227"/>
                <a:ext cx="4158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79B417F-988C-3011-8D93-EE8B47E71DB4}"/>
                  </a:ext>
                </a:extLst>
              </p14:cNvPr>
              <p14:cNvContentPartPr/>
              <p14:nvPr/>
            </p14:nvContentPartPr>
            <p14:xfrm>
              <a:off x="5495690" y="2084067"/>
              <a:ext cx="1406880" cy="7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79B417F-988C-3011-8D93-EE8B47E71DB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33050" y="1958067"/>
                <a:ext cx="1532520" cy="2520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Oval 59" descr="Your startup LOGO">
            <a:extLst>
              <a:ext uri="{FF2B5EF4-FFF2-40B4-BE49-F238E27FC236}">
                <a16:creationId xmlns:a16="http://schemas.microsoft.com/office/drawing/2014/main" id="{86C69109-A72C-3DF7-5DEB-AD2427AF0D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3397" y="82754"/>
            <a:ext cx="1685840" cy="41584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Visioneers</a:t>
            </a:r>
            <a:endParaRPr lang="en-IN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9E2BEE-935E-BCE8-2DBA-E55C9A5C69C3}"/>
              </a:ext>
            </a:extLst>
          </p:cNvPr>
          <p:cNvGrpSpPr/>
          <p:nvPr/>
        </p:nvGrpSpPr>
        <p:grpSpPr>
          <a:xfrm>
            <a:off x="9748616" y="5069911"/>
            <a:ext cx="2194519" cy="1133794"/>
            <a:chOff x="9266902" y="4422831"/>
            <a:chExt cx="2379405" cy="119138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3C68A19-57A5-E785-9612-055E4BA8115A}"/>
                </a:ext>
              </a:extLst>
            </p:cNvPr>
            <p:cNvGrpSpPr/>
            <p:nvPr/>
          </p:nvGrpSpPr>
          <p:grpSpPr>
            <a:xfrm>
              <a:off x="9266902" y="4422831"/>
              <a:ext cx="2379405" cy="1191388"/>
              <a:chOff x="9266902" y="4422831"/>
              <a:chExt cx="2379405" cy="1494035"/>
            </a:xfrm>
            <a:blipFill>
              <a:blip r:embed="rId18"/>
              <a:tile tx="0" ty="0" sx="100000" sy="100000" flip="none" algn="tl"/>
            </a:blipFill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8B6E853E-FE35-7533-ED81-E120FE972519}"/>
                  </a:ext>
                </a:extLst>
              </p:cNvPr>
              <p:cNvSpPr/>
              <p:nvPr/>
            </p:nvSpPr>
            <p:spPr>
              <a:xfrm>
                <a:off x="9266902" y="4422831"/>
                <a:ext cx="2379405" cy="1494035"/>
              </a:xfrm>
              <a:prstGeom prst="roundRect">
                <a:avLst>
                  <a:gd name="adj" fmla="val 23339"/>
                </a:avLst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8072FC-40E3-2809-99D4-ABCE9E877FA7}"/>
                  </a:ext>
                </a:extLst>
              </p:cNvPr>
              <p:cNvSpPr txBox="1"/>
              <p:nvPr/>
            </p:nvSpPr>
            <p:spPr>
              <a:xfrm>
                <a:off x="9458918" y="4601498"/>
                <a:ext cx="1759975" cy="104467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u="sng" dirty="0">
                    <a:solidFill>
                      <a:srgbClr val="0040C0"/>
                    </a:solidFill>
                    <a:hlinkClick r:id="rId19"/>
                  </a:rPr>
                  <a:t>GITHUB</a:t>
                </a:r>
                <a:br>
                  <a:rPr lang="en-US" sz="1600" u="sng" dirty="0">
                    <a:solidFill>
                      <a:srgbClr val="0040C0"/>
                    </a:solidFill>
                  </a:rPr>
                </a:br>
                <a:r>
                  <a:rPr lang="en-US" sz="1600" u="sng" dirty="0">
                    <a:solidFill>
                      <a:srgbClr val="0040C0"/>
                    </a:solidFill>
                  </a:rPr>
                  <a:t>DEMO VIDEO</a:t>
                </a:r>
                <a:endParaRPr lang="en-IN" sz="1600" u="sng" dirty="0">
                  <a:solidFill>
                    <a:srgbClr val="0040C0"/>
                  </a:solidFill>
                </a:endParaRPr>
              </a:p>
            </p:txBody>
          </p:sp>
        </p:grpSp>
        <p:pic>
          <p:nvPicPr>
            <p:cNvPr id="14" name="Graphic 13" descr="Video camera with solid fill">
              <a:extLst>
                <a:ext uri="{FF2B5EF4-FFF2-40B4-BE49-F238E27FC236}">
                  <a16:creationId xmlns:a16="http://schemas.microsoft.com/office/drawing/2014/main" id="{9E2B265E-859A-DD55-5318-4020A6A209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96221" y="4879759"/>
              <a:ext cx="508532" cy="47204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5CCCAAE-7626-0B07-16DA-8B641000A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374797" y="4623435"/>
              <a:ext cx="380952" cy="380952"/>
            </a:xfrm>
            <a:prstGeom prst="rect">
              <a:avLst/>
            </a:prstGeom>
          </p:spPr>
        </p:pic>
      </p:grpSp>
      <p:pic>
        <p:nvPicPr>
          <p:cNvPr id="17410" name="Picture 17409" descr="slide3_diagram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730928"/>
            <a:ext cx="9555858" cy="56084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7986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26" y="1500"/>
            <a:ext cx="1902710" cy="6798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92EB77-90CA-494A-E558-152946BAE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642" y="1083487"/>
            <a:ext cx="350796" cy="200501"/>
          </a:xfrm>
          <a:prstGeom prst="rect">
            <a:avLst/>
          </a:prstGeom>
        </p:spPr>
      </p:pic>
      <p:sp>
        <p:nvSpPr>
          <p:cNvPr id="21" name="Arrow: Left-Right-Up 20">
            <a:extLst>
              <a:ext uri="{FF2B5EF4-FFF2-40B4-BE49-F238E27FC236}">
                <a16:creationId xmlns:a16="http://schemas.microsoft.com/office/drawing/2014/main" id="{69E9DD3C-0DA8-CA9D-C419-A17B3D0F6DC5}"/>
              </a:ext>
            </a:extLst>
          </p:cNvPr>
          <p:cNvSpPr/>
          <p:nvPr/>
        </p:nvSpPr>
        <p:spPr>
          <a:xfrm>
            <a:off x="7884823" y="1327695"/>
            <a:ext cx="615419" cy="731087"/>
          </a:xfrm>
          <a:prstGeom prst="leftRight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50F676D-4768-74C3-68BE-C86BCD5FC391}"/>
              </a:ext>
            </a:extLst>
          </p:cNvPr>
          <p:cNvGrpSpPr/>
          <p:nvPr/>
        </p:nvGrpSpPr>
        <p:grpSpPr>
          <a:xfrm>
            <a:off x="4281556" y="681366"/>
            <a:ext cx="7863299" cy="5536874"/>
            <a:chOff x="4197144" y="681366"/>
            <a:chExt cx="7906365" cy="553687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4F2D135-B172-AE19-C7C3-D9107A5A748E}"/>
                </a:ext>
              </a:extLst>
            </p:cNvPr>
            <p:cNvSpPr/>
            <p:nvPr/>
          </p:nvSpPr>
          <p:spPr>
            <a:xfrm>
              <a:off x="4197144" y="681366"/>
              <a:ext cx="7906365" cy="5536874"/>
            </a:xfrm>
            <a:prstGeom prst="rect">
              <a:avLst/>
            </a:prstGeom>
            <a:blipFill>
              <a:blip r:embed="rId5"/>
              <a:tile tx="0" ty="0" sx="100000" sy="100000" flip="none" algn="tl"/>
            </a:blip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FB8BCD0-1EB4-29F1-069F-0E6C8007B311}"/>
                </a:ext>
              </a:extLst>
            </p:cNvPr>
            <p:cNvSpPr/>
            <p:nvPr/>
          </p:nvSpPr>
          <p:spPr>
            <a:xfrm>
              <a:off x="4439286" y="839684"/>
              <a:ext cx="2991055" cy="759710"/>
            </a:xfrm>
            <a:prstGeom prst="roundRect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Challenges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9B11AD2-C0D9-6BFA-87DE-CC568458A046}"/>
                </a:ext>
              </a:extLst>
            </p:cNvPr>
            <p:cNvSpPr/>
            <p:nvPr/>
          </p:nvSpPr>
          <p:spPr>
            <a:xfrm>
              <a:off x="8814822" y="815199"/>
              <a:ext cx="2991054" cy="759710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Sitka Text" pitchFamily="2" charset="0"/>
                  <a:cs typeface="Times New Roman" panose="02020603050405020304" pitchFamily="18" charset="0"/>
                </a:rPr>
                <a:t>Strategies To Overcome Challenges: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5CB4087-6BBF-89E3-5313-DA383382FA73}"/>
                </a:ext>
              </a:extLst>
            </p:cNvPr>
            <p:cNvCxnSpPr/>
            <p:nvPr/>
          </p:nvCxnSpPr>
          <p:spPr>
            <a:xfrm>
              <a:off x="8192534" y="2256960"/>
              <a:ext cx="0" cy="3599985"/>
            </a:xfrm>
            <a:prstGeom prst="line">
              <a:avLst/>
            </a:prstGeom>
            <a:ln w="57150" cap="flat" cmpd="sng" algn="ctr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167524E-D383-EC62-4EDB-E327BC43FFA0}"/>
                </a:ext>
              </a:extLst>
            </p:cNvPr>
            <p:cNvGrpSpPr/>
            <p:nvPr/>
          </p:nvGrpSpPr>
          <p:grpSpPr>
            <a:xfrm>
              <a:off x="8535520" y="1693238"/>
              <a:ext cx="3467473" cy="4325079"/>
              <a:chOff x="8742228" y="1733439"/>
              <a:chExt cx="3245044" cy="5000529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F36FD41-6502-AE4F-66DC-33B79F6C3647}"/>
                  </a:ext>
                </a:extLst>
              </p:cNvPr>
              <p:cNvSpPr/>
              <p:nvPr/>
            </p:nvSpPr>
            <p:spPr>
              <a:xfrm>
                <a:off x="8792664" y="1733439"/>
                <a:ext cx="3194608" cy="1144142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dirty="0">
                  <a:solidFill>
                    <a:schemeClr val="tx1"/>
                  </a:solidFill>
                  <a:latin typeface="Sitka Text" pitchFamily="2" charset="0"/>
                </a:endParaRP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91B9DD0E-2E12-5E84-F903-D55C39E4CF3B}"/>
                  </a:ext>
                </a:extLst>
              </p:cNvPr>
              <p:cNvSpPr/>
              <p:nvPr/>
            </p:nvSpPr>
            <p:spPr>
              <a:xfrm>
                <a:off x="8767446" y="3014103"/>
                <a:ext cx="3219825" cy="1144142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dirty="0">
                  <a:solidFill>
                    <a:schemeClr val="tx1"/>
                  </a:solidFill>
                  <a:latin typeface="Sitka Text" pitchFamily="2" charset="0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37CAF857-96B5-D735-9B87-21BC0A37302A}"/>
                  </a:ext>
                </a:extLst>
              </p:cNvPr>
              <p:cNvSpPr/>
              <p:nvPr/>
            </p:nvSpPr>
            <p:spPr>
              <a:xfrm>
                <a:off x="8742228" y="4294767"/>
                <a:ext cx="3219825" cy="1144142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dirty="0">
                  <a:solidFill>
                    <a:schemeClr val="tx1"/>
                  </a:solidFill>
                  <a:latin typeface="Sitka Text" pitchFamily="2" charset="0"/>
                </a:endParaRPr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FBBA3C6A-A13C-92C8-D8EC-6AE733774172}"/>
                  </a:ext>
                </a:extLst>
              </p:cNvPr>
              <p:cNvSpPr/>
              <p:nvPr/>
            </p:nvSpPr>
            <p:spPr>
              <a:xfrm>
                <a:off x="8742228" y="5589826"/>
                <a:ext cx="3219825" cy="1144142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dirty="0">
                  <a:solidFill>
                    <a:schemeClr val="tx1"/>
                  </a:solidFill>
                  <a:latin typeface="Sitka Text" pitchFamily="2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0FAB015-428D-C65D-F006-6A31D586925D}"/>
                </a:ext>
              </a:extLst>
            </p:cNvPr>
            <p:cNvGrpSpPr/>
            <p:nvPr/>
          </p:nvGrpSpPr>
          <p:grpSpPr>
            <a:xfrm>
              <a:off x="4281556" y="1695455"/>
              <a:ext cx="3495766" cy="4322862"/>
              <a:chOff x="4299380" y="1733439"/>
              <a:chExt cx="3272123" cy="5025069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1166F909-B92C-0A09-E880-2423D776D13F}"/>
                  </a:ext>
                </a:extLst>
              </p:cNvPr>
              <p:cNvSpPr/>
              <p:nvPr/>
            </p:nvSpPr>
            <p:spPr>
              <a:xfrm>
                <a:off x="4300642" y="1733439"/>
                <a:ext cx="3270861" cy="1144142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US" sz="1300" b="1" dirty="0">
                    <a:solidFill>
                      <a:schemeClr val="tx1"/>
                    </a:solidFill>
                    <a:latin typeface="Sitka Text" pitchFamily="2" charset="0"/>
                  </a:rPr>
                  <a:t>   </a:t>
                </a:r>
                <a:endParaRPr lang="en-US" sz="1300" dirty="0">
                  <a:latin typeface="Sitka Text" pitchFamily="2" charset="0"/>
                </a:endParaRPr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2D4B3E82-CCE7-28A6-B901-28BDBDC74730}"/>
                  </a:ext>
                </a:extLst>
              </p:cNvPr>
              <p:cNvSpPr/>
              <p:nvPr/>
            </p:nvSpPr>
            <p:spPr>
              <a:xfrm>
                <a:off x="4299382" y="3011626"/>
                <a:ext cx="3270861" cy="1144142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300" dirty="0">
                    <a:solidFill>
                      <a:schemeClr val="tx1"/>
                    </a:solidFill>
                    <a:latin typeface="Sitka Text" pitchFamily="2" charset="0"/>
                  </a:rPr>
                  <a:t>.</a:t>
                </a:r>
              </a:p>
              <a:p>
                <a:pPr algn="r"/>
                <a:endParaRPr lang="en-US" sz="1300" dirty="0">
                  <a:latin typeface="Sitka Text" pitchFamily="2" charset="0"/>
                </a:endParaRP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B41501CA-2090-062C-4CE7-323B99E2A1D2}"/>
                  </a:ext>
                </a:extLst>
              </p:cNvPr>
              <p:cNvSpPr/>
              <p:nvPr/>
            </p:nvSpPr>
            <p:spPr>
              <a:xfrm>
                <a:off x="4299381" y="4312996"/>
                <a:ext cx="3270861" cy="1144142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300" b="1" dirty="0">
                    <a:solidFill>
                      <a:schemeClr val="tx1"/>
                    </a:solidFill>
                    <a:latin typeface="Sitka Text" pitchFamily="2" charset="0"/>
                  </a:rPr>
                  <a:t>   </a:t>
                </a:r>
                <a:endParaRPr lang="en-US" sz="1300" dirty="0">
                  <a:latin typeface="Sitka Text" pitchFamily="2" charset="0"/>
                </a:endParaRP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9363B138-6C97-A254-0D20-3B8387129618}"/>
                  </a:ext>
                </a:extLst>
              </p:cNvPr>
              <p:cNvSpPr/>
              <p:nvPr/>
            </p:nvSpPr>
            <p:spPr>
              <a:xfrm>
                <a:off x="4299380" y="5614366"/>
                <a:ext cx="3270861" cy="1144142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300" b="1" dirty="0">
                    <a:solidFill>
                      <a:schemeClr val="tx1"/>
                    </a:solidFill>
                    <a:latin typeface="Sitka Text" pitchFamily="2" charset="0"/>
                  </a:rPr>
                  <a:t>   </a:t>
                </a:r>
                <a:endParaRPr lang="en-US" sz="1300" dirty="0">
                  <a:latin typeface="Sitka Text" pitchFamily="2" charset="0"/>
                </a:endParaRPr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C97537C-61AB-9262-C4C6-32E360494909}"/>
              </a:ext>
            </a:extLst>
          </p:cNvPr>
          <p:cNvSpPr txBox="1"/>
          <p:nvPr/>
        </p:nvSpPr>
        <p:spPr>
          <a:xfrm>
            <a:off x="1129572" y="621609"/>
            <a:ext cx="199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D27AB1F-F35C-FD70-BA88-E0D02E2E8F0A}"/>
              </a:ext>
            </a:extLst>
          </p:cNvPr>
          <p:cNvGrpSpPr/>
          <p:nvPr/>
        </p:nvGrpSpPr>
        <p:grpSpPr>
          <a:xfrm>
            <a:off x="48590" y="957608"/>
            <a:ext cx="4079883" cy="4973038"/>
            <a:chOff x="354226" y="1001306"/>
            <a:chExt cx="3526853" cy="4973038"/>
          </a:xfrm>
          <a:effectLst/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5DC4A9A-BC93-A1C4-EDB8-6D81CEE2AF95}"/>
                </a:ext>
              </a:extLst>
            </p:cNvPr>
            <p:cNvGrpSpPr/>
            <p:nvPr/>
          </p:nvGrpSpPr>
          <p:grpSpPr>
            <a:xfrm>
              <a:off x="354226" y="1001306"/>
              <a:ext cx="3526851" cy="1122496"/>
              <a:chOff x="628718" y="1060988"/>
              <a:chExt cx="3188274" cy="118546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676CE4D-8E97-865F-77C5-F91EAA2BD2F9}"/>
                  </a:ext>
                </a:extLst>
              </p:cNvPr>
              <p:cNvSpPr/>
              <p:nvPr/>
            </p:nvSpPr>
            <p:spPr>
              <a:xfrm>
                <a:off x="848079" y="1072975"/>
                <a:ext cx="2968913" cy="117347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Arrow: Chevron 31">
                <a:extLst>
                  <a:ext uri="{FF2B5EF4-FFF2-40B4-BE49-F238E27FC236}">
                    <a16:creationId xmlns:a16="http://schemas.microsoft.com/office/drawing/2014/main" id="{9AA892F7-136E-DD94-F5C8-50A5162AEC19}"/>
                  </a:ext>
                </a:extLst>
              </p:cNvPr>
              <p:cNvSpPr/>
              <p:nvPr/>
            </p:nvSpPr>
            <p:spPr>
              <a:xfrm>
                <a:off x="628718" y="1060988"/>
                <a:ext cx="381244" cy="531467"/>
              </a:xfrm>
              <a:prstGeom prst="chevron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AFC5A97-3180-983D-DED1-95149D97BA7B}"/>
                </a:ext>
              </a:extLst>
            </p:cNvPr>
            <p:cNvGrpSpPr/>
            <p:nvPr/>
          </p:nvGrpSpPr>
          <p:grpSpPr>
            <a:xfrm>
              <a:off x="395940" y="2272230"/>
              <a:ext cx="3483246" cy="1123935"/>
              <a:chOff x="647142" y="954702"/>
              <a:chExt cx="3148855" cy="1186979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154BBA1-EFD8-77D0-6A04-3F1E09B16000}"/>
                  </a:ext>
                </a:extLst>
              </p:cNvPr>
              <p:cNvSpPr/>
              <p:nvPr/>
            </p:nvSpPr>
            <p:spPr>
              <a:xfrm>
                <a:off x="827084" y="968208"/>
                <a:ext cx="2968913" cy="117347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Arrow: Chevron 42">
                <a:extLst>
                  <a:ext uri="{FF2B5EF4-FFF2-40B4-BE49-F238E27FC236}">
                    <a16:creationId xmlns:a16="http://schemas.microsoft.com/office/drawing/2014/main" id="{762828FE-3C3E-32DF-557D-A196452DD162}"/>
                  </a:ext>
                </a:extLst>
              </p:cNvPr>
              <p:cNvSpPr/>
              <p:nvPr/>
            </p:nvSpPr>
            <p:spPr>
              <a:xfrm>
                <a:off x="647142" y="954702"/>
                <a:ext cx="381244" cy="531467"/>
              </a:xfrm>
              <a:prstGeom prst="chevron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F26DEAF-601C-CF8B-7F28-8F22D183B2F9}"/>
                </a:ext>
              </a:extLst>
            </p:cNvPr>
            <p:cNvGrpSpPr/>
            <p:nvPr/>
          </p:nvGrpSpPr>
          <p:grpSpPr>
            <a:xfrm>
              <a:off x="397832" y="3544592"/>
              <a:ext cx="3483247" cy="1123934"/>
              <a:chOff x="629569" y="849936"/>
              <a:chExt cx="3148855" cy="118697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DB84DB3-5465-25B4-2ACD-D8D05717B891}"/>
                  </a:ext>
                </a:extLst>
              </p:cNvPr>
              <p:cNvSpPr/>
              <p:nvPr/>
            </p:nvSpPr>
            <p:spPr>
              <a:xfrm>
                <a:off x="809511" y="863441"/>
                <a:ext cx="2968913" cy="117347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Arrow: Chevron 45">
                <a:extLst>
                  <a:ext uri="{FF2B5EF4-FFF2-40B4-BE49-F238E27FC236}">
                    <a16:creationId xmlns:a16="http://schemas.microsoft.com/office/drawing/2014/main" id="{B2843A7C-C601-3FDC-BBF1-56A14457DC30}"/>
                  </a:ext>
                </a:extLst>
              </p:cNvPr>
              <p:cNvSpPr/>
              <p:nvPr/>
            </p:nvSpPr>
            <p:spPr>
              <a:xfrm>
                <a:off x="629569" y="849936"/>
                <a:ext cx="381245" cy="531467"/>
              </a:xfrm>
              <a:prstGeom prst="chevron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2F23147-E1CD-7D89-4771-B6C941005F26}"/>
                </a:ext>
              </a:extLst>
            </p:cNvPr>
            <p:cNvGrpSpPr/>
            <p:nvPr/>
          </p:nvGrpSpPr>
          <p:grpSpPr>
            <a:xfrm>
              <a:off x="397832" y="4850410"/>
              <a:ext cx="3483247" cy="1123934"/>
              <a:chOff x="648853" y="801893"/>
              <a:chExt cx="3148855" cy="1186978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61EFCA3-56FC-369A-73A2-F4910395C692}"/>
                  </a:ext>
                </a:extLst>
              </p:cNvPr>
              <p:cNvSpPr/>
              <p:nvPr/>
            </p:nvSpPr>
            <p:spPr>
              <a:xfrm>
                <a:off x="828795" y="815398"/>
                <a:ext cx="2968913" cy="117347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Arrow: Chevron 48">
                <a:extLst>
                  <a:ext uri="{FF2B5EF4-FFF2-40B4-BE49-F238E27FC236}">
                    <a16:creationId xmlns:a16="http://schemas.microsoft.com/office/drawing/2014/main" id="{1E79A17B-85AA-BA2A-C1D8-3DABB25492BD}"/>
                  </a:ext>
                </a:extLst>
              </p:cNvPr>
              <p:cNvSpPr/>
              <p:nvPr/>
            </p:nvSpPr>
            <p:spPr>
              <a:xfrm>
                <a:off x="648853" y="801893"/>
                <a:ext cx="381245" cy="531467"/>
              </a:xfrm>
              <a:prstGeom prst="chevron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8C3576BB-8A53-6CE2-17C7-41AB7A58AC43}"/>
              </a:ext>
            </a:extLst>
          </p:cNvPr>
          <p:cNvSpPr txBox="1"/>
          <p:nvPr/>
        </p:nvSpPr>
        <p:spPr>
          <a:xfrm>
            <a:off x="497185" y="990063"/>
            <a:ext cx="37402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b="1" sz="1600"/>
              <a:t>Operational: </a:t>
            </a:r>
            <a:r>
              <a:rPr b="0" sz="1600"/>
              <a:t>Integrates seamlessly with existing NHAA 14566 helpline, Integrated Atrocity Portals &amp; IVRS with zero friction for victims.</a:t>
            </a:r>
          </a:p>
          <a:p>
            <a:pPr lvl="0"/>
            <a:endParaRPr lang="en-IN" sz="1600" dirty="0"/>
          </a:p>
        </p:txBody>
      </p:sp>
      <p:pic>
        <p:nvPicPr>
          <p:cNvPr id="17408" name="Picture 17407">
            <a:extLst>
              <a:ext uri="{FF2B5EF4-FFF2-40B4-BE49-F238E27FC236}">
                <a16:creationId xmlns:a16="http://schemas.microsoft.com/office/drawing/2014/main" id="{F1212CD0-F9CE-8A0D-4A18-416B16673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775" y="1155511"/>
            <a:ext cx="333422" cy="190527"/>
          </a:xfrm>
          <a:prstGeom prst="rect">
            <a:avLst/>
          </a:prstGeom>
        </p:spPr>
      </p:pic>
      <p:sp>
        <p:nvSpPr>
          <p:cNvPr id="17412" name="Arrow: Left-Right-Up 17411">
            <a:extLst>
              <a:ext uri="{FF2B5EF4-FFF2-40B4-BE49-F238E27FC236}">
                <a16:creationId xmlns:a16="http://schemas.microsoft.com/office/drawing/2014/main" id="{49282A48-6AC7-097C-8C2A-CFCAE26001AF}"/>
              </a:ext>
            </a:extLst>
          </p:cNvPr>
          <p:cNvSpPr/>
          <p:nvPr/>
        </p:nvSpPr>
        <p:spPr>
          <a:xfrm>
            <a:off x="7926169" y="1387570"/>
            <a:ext cx="584938" cy="694717"/>
          </a:xfrm>
          <a:prstGeom prst="leftRight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59E66E01-DE5A-4FE2-7088-67474D2A934A}"/>
              </a:ext>
            </a:extLst>
          </p:cNvPr>
          <p:cNvSpPr txBox="1"/>
          <p:nvPr/>
        </p:nvSpPr>
        <p:spPr>
          <a:xfrm>
            <a:off x="482247" y="2221999"/>
            <a:ext cx="37366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b="1" sz="1600"/>
              <a:t>Scalability: </a:t>
            </a:r>
            <a:r>
              <a:rPr b="0" sz="1600"/>
              <a:t>Cloud-native microservices architecture enabling rapid, seamless deployment across District, State &amp; National levels.</a:t>
            </a: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8F2E966C-82E6-62C7-9A9E-73F27C052BAE}"/>
              </a:ext>
            </a:extLst>
          </p:cNvPr>
          <p:cNvSpPr txBox="1"/>
          <p:nvPr/>
        </p:nvSpPr>
        <p:spPr>
          <a:xfrm>
            <a:off x="497185" y="3481101"/>
            <a:ext cx="36754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b="1" sz="1600"/>
              <a:t>Economic: </a:t>
            </a:r>
            <a:r>
              <a:rPr b="0" sz="1600"/>
              <a:t>Low-cost continuous monitoring offsets expensive emergency crisis interventions &amp; prevents trial collapse costs.</a:t>
            </a:r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91CDAF1E-A178-FA19-75DF-977E95831C39}"/>
              </a:ext>
            </a:extLst>
          </p:cNvPr>
          <p:cNvSpPr txBox="1"/>
          <p:nvPr/>
        </p:nvSpPr>
        <p:spPr>
          <a:xfrm>
            <a:off x="482247" y="4833031"/>
            <a:ext cx="37297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b="1" sz="1600"/>
              <a:t>Clinical &amp; Ethical: </a:t>
            </a:r>
            <a:r>
              <a:rPr b="0" sz="1600"/>
              <a:t>Adheres strictly to DPDP Act privacy rules, anonymized distress scoring &amp; human-in-the-loop verification.</a:t>
            </a:r>
            <a:endParaRPr lang="en-IN" sz="1400" dirty="0"/>
          </a:p>
        </p:txBody>
      </p: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BD09D687-276B-26F1-3EF5-CE742716946E}"/>
              </a:ext>
            </a:extLst>
          </p:cNvPr>
          <p:cNvSpPr txBox="1"/>
          <p:nvPr/>
        </p:nvSpPr>
        <p:spPr>
          <a:xfrm>
            <a:off x="4830782" y="1695455"/>
            <a:ext cx="31967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b="1" sz="1500"/>
              <a:t>Rural Dialects: </a:t>
            </a:r>
            <a:r>
              <a:rPr b="0" sz="1500"/>
              <a:t>Untrained regional dialects &amp; background noise during IVRS calls cause audio distortion.</a:t>
            </a:r>
          </a:p>
        </p:txBody>
      </p:sp>
      <p:pic>
        <p:nvPicPr>
          <p:cNvPr id="17424" name="Graphic 17423" descr="Camera with solid fill">
            <a:extLst>
              <a:ext uri="{FF2B5EF4-FFF2-40B4-BE49-F238E27FC236}">
                <a16:creationId xmlns:a16="http://schemas.microsoft.com/office/drawing/2014/main" id="{60CD20FB-D695-9862-3D26-1D35A491D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9810" y="1940368"/>
            <a:ext cx="506680" cy="537983"/>
          </a:xfrm>
          <a:prstGeom prst="rect">
            <a:avLst/>
          </a:prstGeom>
        </p:spPr>
      </p:pic>
      <p:pic>
        <p:nvPicPr>
          <p:cNvPr id="17428" name="Graphic 17427" descr="Building with solid fill">
            <a:extLst>
              <a:ext uri="{FF2B5EF4-FFF2-40B4-BE49-F238E27FC236}">
                <a16:creationId xmlns:a16="http://schemas.microsoft.com/office/drawing/2014/main" id="{F1B5377C-3430-E656-D8E8-146A8FEBFC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8930" y="4088479"/>
            <a:ext cx="699291" cy="670537"/>
          </a:xfrm>
          <a:prstGeom prst="rect">
            <a:avLst/>
          </a:prstGeom>
        </p:spPr>
      </p:pic>
      <p:pic>
        <p:nvPicPr>
          <p:cNvPr id="17430" name="Graphic 17429" descr="Books with solid fill">
            <a:extLst>
              <a:ext uri="{FF2B5EF4-FFF2-40B4-BE49-F238E27FC236}">
                <a16:creationId xmlns:a16="http://schemas.microsoft.com/office/drawing/2014/main" id="{17B8D2E2-99C9-3340-6215-0BCE333B3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2814" y="5162545"/>
            <a:ext cx="543676" cy="718032"/>
          </a:xfrm>
          <a:prstGeom prst="rect">
            <a:avLst/>
          </a:prstGeom>
        </p:spPr>
      </p:pic>
      <p:sp>
        <p:nvSpPr>
          <p:cNvPr id="17432" name="TextBox 17431">
            <a:extLst>
              <a:ext uri="{FF2B5EF4-FFF2-40B4-BE49-F238E27FC236}">
                <a16:creationId xmlns:a16="http://schemas.microsoft.com/office/drawing/2014/main" id="{CB5A77C3-D398-CDC1-5116-0A4992FB890E}"/>
              </a:ext>
            </a:extLst>
          </p:cNvPr>
          <p:cNvSpPr txBox="1"/>
          <p:nvPr/>
        </p:nvSpPr>
        <p:spPr>
          <a:xfrm>
            <a:off x="4848369" y="2816236"/>
            <a:ext cx="3077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b="1" sz="1500"/>
              <a:t>Black-Box Trust: </a:t>
            </a:r>
            <a:r>
              <a:rPr b="0" sz="1500"/>
              <a:t>Officials hesitate to rely on automated AI predictions without clinical justification.</a:t>
            </a:r>
          </a:p>
        </p:txBody>
      </p:sp>
      <p:sp>
        <p:nvSpPr>
          <p:cNvPr id="17434" name="TextBox 17433">
            <a:extLst>
              <a:ext uri="{FF2B5EF4-FFF2-40B4-BE49-F238E27FC236}">
                <a16:creationId xmlns:a16="http://schemas.microsoft.com/office/drawing/2014/main" id="{528DA988-B64A-14D6-1D39-FC154FEDD2AD}"/>
              </a:ext>
            </a:extLst>
          </p:cNvPr>
          <p:cNvSpPr txBox="1"/>
          <p:nvPr/>
        </p:nvSpPr>
        <p:spPr>
          <a:xfrm>
            <a:off x="4860963" y="3942323"/>
            <a:ext cx="299123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b="1" sz="1500"/>
              <a:t>Low Connectivity: </a:t>
            </a:r>
            <a:r>
              <a:rPr b="0" sz="1500"/>
              <a:t>Rural tribal/remote PHC clinics suffer from intermittent internet and low-spec hardware.</a:t>
            </a:r>
          </a:p>
          <a:p>
            <a:pPr marR="0" lvl="0" algn="l"/>
            <a:r>
              <a:rPr lang="en-IN" sz="1600" b="0" i="0" dirty="0">
                <a:solidFill>
                  <a:schemeClr val="tx1"/>
                </a:solidFill>
                <a:effectLst/>
                <a:latin typeface="Calibri" pitchFamily="34" charset="0"/>
              </a:rPr>
              <a:t>.</a:t>
            </a:r>
            <a:endParaRPr lang="en-IN" sz="1000" b="0" i="0" dirty="0">
              <a:solidFill>
                <a:srgbClr val="CCCCCC"/>
              </a:solidFill>
              <a:effectLst/>
              <a:latin typeface="system-ui"/>
            </a:endParaRPr>
          </a:p>
        </p:txBody>
      </p:sp>
      <p:sp>
        <p:nvSpPr>
          <p:cNvPr id="17436" name="TextBox 17435">
            <a:extLst>
              <a:ext uri="{FF2B5EF4-FFF2-40B4-BE49-F238E27FC236}">
                <a16:creationId xmlns:a16="http://schemas.microsoft.com/office/drawing/2014/main" id="{6D7D0110-273E-58C7-3CF1-358561F56EFB}"/>
              </a:ext>
            </a:extLst>
          </p:cNvPr>
          <p:cNvSpPr txBox="1"/>
          <p:nvPr/>
        </p:nvSpPr>
        <p:spPr>
          <a:xfrm>
            <a:off x="4865939" y="5022953"/>
            <a:ext cx="30652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b="1" sz="1500"/>
              <a:t>Victim Dropouts: </a:t>
            </a:r>
            <a:r>
              <a:rPr b="0" sz="1500"/>
              <a:t>Victims withholding responses due to fear or intimidation cause missing data.</a:t>
            </a:r>
          </a:p>
        </p:txBody>
      </p:sp>
      <p:sp>
        <p:nvSpPr>
          <p:cNvPr id="17442" name="TextBox 17441">
            <a:extLst>
              <a:ext uri="{FF2B5EF4-FFF2-40B4-BE49-F238E27FC236}">
                <a16:creationId xmlns:a16="http://schemas.microsoft.com/office/drawing/2014/main" id="{BB90006C-3E83-8638-1619-C3CC5C393681}"/>
              </a:ext>
            </a:extLst>
          </p:cNvPr>
          <p:cNvSpPr txBox="1"/>
          <p:nvPr/>
        </p:nvSpPr>
        <p:spPr>
          <a:xfrm>
            <a:off x="9115321" y="5004448"/>
            <a:ext cx="29027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b="1" sz="1500">
                <a:latin typeface="Calibri"/>
              </a:rPr>
              <a:t>Non-Response Tracking: </a:t>
            </a:r>
            <a:r>
              <a:rPr b="0" sz="1500">
                <a:latin typeface="Calibri"/>
              </a:rPr>
              <a:t>System tracks silent periods &amp; automatically dispatches welfare check-ins before crisis.</a:t>
            </a:r>
            <a:endParaRPr lang="en-IN" sz="1500" b="0" i="0" dirty="0">
              <a:solidFill>
                <a:srgbClr val="CCCCCC"/>
              </a:solidFill>
              <a:effectLst/>
              <a:latin typeface="system-ui"/>
            </a:endParaRPr>
          </a:p>
        </p:txBody>
      </p:sp>
      <p:pic>
        <p:nvPicPr>
          <p:cNvPr id="17444" name="Graphic 17443" descr="Arrow circle with solid fill">
            <a:extLst>
              <a:ext uri="{FF2B5EF4-FFF2-40B4-BE49-F238E27FC236}">
                <a16:creationId xmlns:a16="http://schemas.microsoft.com/office/drawing/2014/main" id="{4F7B81CE-8267-3974-A784-C3CFCE01C8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2236" y="1906524"/>
            <a:ext cx="682341" cy="611776"/>
          </a:xfrm>
          <a:prstGeom prst="rect">
            <a:avLst/>
          </a:prstGeom>
        </p:spPr>
      </p:pic>
      <p:sp>
        <p:nvSpPr>
          <p:cNvPr id="17446" name="TextBox 17445">
            <a:extLst>
              <a:ext uri="{FF2B5EF4-FFF2-40B4-BE49-F238E27FC236}">
                <a16:creationId xmlns:a16="http://schemas.microsoft.com/office/drawing/2014/main" id="{74098D49-119E-A2B1-5499-93C0F1CC5772}"/>
              </a:ext>
            </a:extLst>
          </p:cNvPr>
          <p:cNvSpPr txBox="1"/>
          <p:nvPr/>
        </p:nvSpPr>
        <p:spPr>
          <a:xfrm>
            <a:off x="9057565" y="1703496"/>
            <a:ext cx="30373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b="1" sz="1500">
                <a:latin typeface="Calibri"/>
              </a:rPr>
              <a:t>Speech Denoising: </a:t>
            </a:r>
            <a:r>
              <a:rPr b="0" sz="1500">
                <a:latin typeface="Calibri"/>
              </a:rPr>
              <a:t>Advanced noise suppression &amp; fine-tuned Indic ASR models handle rural accents and noise.</a:t>
            </a:r>
          </a:p>
        </p:txBody>
      </p:sp>
      <p:pic>
        <p:nvPicPr>
          <p:cNvPr id="17448" name="Graphic 17447" descr="Connections with solid fill">
            <a:extLst>
              <a:ext uri="{FF2B5EF4-FFF2-40B4-BE49-F238E27FC236}">
                <a16:creationId xmlns:a16="http://schemas.microsoft.com/office/drawing/2014/main" id="{8DFE6CC7-50E0-76CF-ED5D-7E4F2C4F9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16379" y="2982868"/>
            <a:ext cx="545013" cy="662781"/>
          </a:xfrm>
          <a:prstGeom prst="rect">
            <a:avLst/>
          </a:prstGeom>
        </p:spPr>
      </p:pic>
      <p:sp>
        <p:nvSpPr>
          <p:cNvPr id="17450" name="TextBox 17449">
            <a:extLst>
              <a:ext uri="{FF2B5EF4-FFF2-40B4-BE49-F238E27FC236}">
                <a16:creationId xmlns:a16="http://schemas.microsoft.com/office/drawing/2014/main" id="{4D96556B-E661-F513-65F3-A0058F85F198}"/>
              </a:ext>
            </a:extLst>
          </p:cNvPr>
          <p:cNvSpPr txBox="1"/>
          <p:nvPr/>
        </p:nvSpPr>
        <p:spPr>
          <a:xfrm>
            <a:off x="9089030" y="2819356"/>
            <a:ext cx="30558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b="1" sz="1500">
                <a:latin typeface="Calibri"/>
              </a:rPr>
              <a:t>Explainable AI: </a:t>
            </a:r>
            <a:r>
              <a:rPr b="0" sz="1500">
                <a:latin typeface="Calibri"/>
              </a:rPr>
              <a:t>SHAP/LIME heatmaps visually break down specific acoustic &amp; text distress markers for officers.</a:t>
            </a:r>
          </a:p>
        </p:txBody>
      </p:sp>
      <p:pic>
        <p:nvPicPr>
          <p:cNvPr id="17452" name="Graphic 17451" descr="Internet with solid fill">
            <a:extLst>
              <a:ext uri="{FF2B5EF4-FFF2-40B4-BE49-F238E27FC236}">
                <a16:creationId xmlns:a16="http://schemas.microsoft.com/office/drawing/2014/main" id="{42898A2E-6B3A-4DA2-F7F6-FD3EC6CC77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46281" y="4042528"/>
            <a:ext cx="541755" cy="708316"/>
          </a:xfrm>
          <a:prstGeom prst="rect">
            <a:avLst/>
          </a:prstGeom>
        </p:spPr>
      </p:pic>
      <p:sp>
        <p:nvSpPr>
          <p:cNvPr id="17454" name="TextBox 17453">
            <a:extLst>
              <a:ext uri="{FF2B5EF4-FFF2-40B4-BE49-F238E27FC236}">
                <a16:creationId xmlns:a16="http://schemas.microsoft.com/office/drawing/2014/main" id="{48547356-D97B-F282-D90A-DBB3BE37122E}"/>
              </a:ext>
            </a:extLst>
          </p:cNvPr>
          <p:cNvSpPr txBox="1"/>
          <p:nvPr/>
        </p:nvSpPr>
        <p:spPr>
          <a:xfrm>
            <a:off x="9115320" y="3928075"/>
            <a:ext cx="29027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latin typeface="Calibri"/>
              </a:rPr>
              <a:t>Offline Inference: </a:t>
            </a:r>
            <a:r>
              <a:rPr b="0" sz="1400">
                <a:latin typeface="Calibri"/>
              </a:rPr>
              <a:t>Compressed ONNX models run locally on edge servers with automated IVRS/SMS fallback.</a:t>
            </a:r>
          </a:p>
        </p:txBody>
      </p:sp>
      <p:pic>
        <p:nvPicPr>
          <p:cNvPr id="17456" name="Graphic 17455" descr="Blind with solid fill">
            <a:extLst>
              <a:ext uri="{FF2B5EF4-FFF2-40B4-BE49-F238E27FC236}">
                <a16:creationId xmlns:a16="http://schemas.microsoft.com/office/drawing/2014/main" id="{87F77947-19C3-BDE5-52F0-B3B714454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34825" y="3019004"/>
            <a:ext cx="619653" cy="622226"/>
          </a:xfrm>
          <a:prstGeom prst="rect">
            <a:avLst/>
          </a:prstGeom>
        </p:spPr>
      </p:pic>
      <p:pic>
        <p:nvPicPr>
          <p:cNvPr id="17458" name="Graphic 17457" descr="Brain in head with solid fill">
            <a:extLst>
              <a:ext uri="{FF2B5EF4-FFF2-40B4-BE49-F238E27FC236}">
                <a16:creationId xmlns:a16="http://schemas.microsoft.com/office/drawing/2014/main" id="{F278B030-BBD2-4410-940E-692B36E22E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16379" y="5259843"/>
            <a:ext cx="619653" cy="541882"/>
          </a:xfrm>
          <a:prstGeom prst="rect">
            <a:avLst/>
          </a:prstGeom>
        </p:spPr>
      </p:pic>
      <p:sp>
        <p:nvSpPr>
          <p:cNvPr id="17460" name="Oval 17459" descr="Your startup LOGO">
            <a:extLst>
              <a:ext uri="{FF2B5EF4-FFF2-40B4-BE49-F238E27FC236}">
                <a16:creationId xmlns:a16="http://schemas.microsoft.com/office/drawing/2014/main" id="{71DB3CDA-BED1-9AE1-46A3-F60CA48DAA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3397" y="82754"/>
            <a:ext cx="1685840" cy="41584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Visioneers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8" name="Rectangle: Single Corner Snipped 17417">
            <a:extLst>
              <a:ext uri="{FF2B5EF4-FFF2-40B4-BE49-F238E27FC236}">
                <a16:creationId xmlns:a16="http://schemas.microsoft.com/office/drawing/2014/main" id="{F4FA67B4-B677-5D6F-E3E6-ECA9A3120A4C}"/>
              </a:ext>
            </a:extLst>
          </p:cNvPr>
          <p:cNvSpPr/>
          <p:nvPr/>
        </p:nvSpPr>
        <p:spPr>
          <a:xfrm>
            <a:off x="6168805" y="621753"/>
            <a:ext cx="5913570" cy="5614494"/>
          </a:xfrm>
          <a:prstGeom prst="snip1Rect">
            <a:avLst>
              <a:gd name="adj" fmla="val 17543"/>
            </a:avLst>
          </a:prstGeom>
          <a:blipFill>
            <a:blip r:embed="rId3"/>
            <a:tile tx="0" ty="0" sx="100000" sy="100000" flip="none" algn="tl"/>
          </a:blipFill>
          <a:ln>
            <a:solidFill>
              <a:srgbClr val="96B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6705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032" y="-66334"/>
            <a:ext cx="1814027" cy="703891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9369F95-4079-7EAB-C0B4-6B468D93E0E8}"/>
              </a:ext>
            </a:extLst>
          </p:cNvPr>
          <p:cNvSpPr/>
          <p:nvPr/>
        </p:nvSpPr>
        <p:spPr>
          <a:xfrm>
            <a:off x="531328" y="1595986"/>
            <a:ext cx="383843" cy="66149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1498"/>
                </a:lnTo>
                <a:lnTo>
                  <a:pt x="198349" y="661498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DF92AFE-A419-5AA5-716B-F2BEBF7D9FB6}"/>
              </a:ext>
            </a:extLst>
          </p:cNvPr>
          <p:cNvSpPr/>
          <p:nvPr/>
        </p:nvSpPr>
        <p:spPr>
          <a:xfrm>
            <a:off x="531328" y="1595986"/>
            <a:ext cx="383843" cy="177362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773628"/>
                </a:lnTo>
                <a:lnTo>
                  <a:pt x="198349" y="1773628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0DD097E-43D5-ADCD-9B16-1346B4CB42D4}"/>
              </a:ext>
            </a:extLst>
          </p:cNvPr>
          <p:cNvGrpSpPr/>
          <p:nvPr/>
        </p:nvGrpSpPr>
        <p:grpSpPr>
          <a:xfrm>
            <a:off x="7034941" y="1729777"/>
            <a:ext cx="4932785" cy="4285886"/>
            <a:chOff x="6701375" y="1815330"/>
            <a:chExt cx="4932785" cy="4285886"/>
          </a:xfrm>
          <a:solidFill>
            <a:srgbClr val="5185BD">
              <a:alpha val="58039"/>
            </a:srgb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9C8A3C2-4FF3-038B-F92E-6188A4AA7769}"/>
                </a:ext>
              </a:extLst>
            </p:cNvPr>
            <p:cNvSpPr/>
            <p:nvPr/>
          </p:nvSpPr>
          <p:spPr>
            <a:xfrm>
              <a:off x="6701375" y="1815330"/>
              <a:ext cx="4932785" cy="978391"/>
            </a:xfrm>
            <a:custGeom>
              <a:avLst/>
              <a:gdLst>
                <a:gd name="csX0" fmla="*/ 0 w 2548989"/>
                <a:gd name="csY0" fmla="*/ 97839 h 978391"/>
                <a:gd name="csX1" fmla="*/ 97839 w 2548989"/>
                <a:gd name="csY1" fmla="*/ 0 h 978391"/>
                <a:gd name="csX2" fmla="*/ 2451150 w 2548989"/>
                <a:gd name="csY2" fmla="*/ 0 h 978391"/>
                <a:gd name="csX3" fmla="*/ 2548989 w 2548989"/>
                <a:gd name="csY3" fmla="*/ 97839 h 978391"/>
                <a:gd name="csX4" fmla="*/ 2548989 w 2548989"/>
                <a:gd name="csY4" fmla="*/ 880552 h 978391"/>
                <a:gd name="csX5" fmla="*/ 2451150 w 2548989"/>
                <a:gd name="csY5" fmla="*/ 978391 h 978391"/>
                <a:gd name="csX6" fmla="*/ 97839 w 2548989"/>
                <a:gd name="csY6" fmla="*/ 978391 h 978391"/>
                <a:gd name="csX7" fmla="*/ 0 w 2548989"/>
                <a:gd name="csY7" fmla="*/ 880552 h 978391"/>
                <a:gd name="csX8" fmla="*/ 0 w 2548989"/>
                <a:gd name="csY8" fmla="*/ 97839 h 978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978391">
                  <a:moveTo>
                    <a:pt x="0" y="97839"/>
                  </a:moveTo>
                  <a:cubicBezTo>
                    <a:pt x="0" y="43804"/>
                    <a:pt x="43804" y="0"/>
                    <a:pt x="97839" y="0"/>
                  </a:cubicBezTo>
                  <a:lnTo>
                    <a:pt x="2451150" y="0"/>
                  </a:lnTo>
                  <a:cubicBezTo>
                    <a:pt x="2505185" y="0"/>
                    <a:pt x="2548989" y="43804"/>
                    <a:pt x="2548989" y="97839"/>
                  </a:cubicBezTo>
                  <a:lnTo>
                    <a:pt x="2548989" y="880552"/>
                  </a:lnTo>
                  <a:cubicBezTo>
                    <a:pt x="2548989" y="934587"/>
                    <a:pt x="2505185" y="978391"/>
                    <a:pt x="2451150" y="978391"/>
                  </a:cubicBezTo>
                  <a:lnTo>
                    <a:pt x="97839" y="978391"/>
                  </a:lnTo>
                  <a:cubicBezTo>
                    <a:pt x="43804" y="978391"/>
                    <a:pt x="0" y="934587"/>
                    <a:pt x="0" y="880552"/>
                  </a:cubicBezTo>
                  <a:lnTo>
                    <a:pt x="0" y="97839"/>
                  </a:lnTo>
                  <a:close/>
                </a:path>
              </a:pathLst>
            </a:custGeom>
            <a:grpFill/>
          </p:spPr>
          <p:style>
            <a:lnRef idx="2">
              <a:schemeClr val="accent4">
                <a:hueOff val="-2551297"/>
                <a:satOff val="15371"/>
                <a:lumOff val="1232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421" tIns="45166" rIns="53421" bIns="45166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kern="1200" dirty="0">
                  <a:solidFill>
                    <a:srgbClr val="5185BD"/>
                  </a:solidFill>
                  <a:latin typeface="Sitka Text" pitchFamily="2" charset="0"/>
                  <a:cs typeface="Times New Roman" panose="02020603050405020304" pitchFamily="18" charset="0"/>
                </a:rPr>
                <a:t> </a:t>
              </a:r>
              <a:endParaRPr lang="en-IN" sz="1300" kern="1200" dirty="0">
                <a:solidFill>
                  <a:srgbClr val="5185BD"/>
                </a:solidFill>
                <a:latin typeface="Sitka Text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7F09250-01B3-7DE3-9D85-415ED9E0AFE9}"/>
                </a:ext>
              </a:extLst>
            </p:cNvPr>
            <p:cNvSpPr/>
            <p:nvPr/>
          </p:nvSpPr>
          <p:spPr>
            <a:xfrm>
              <a:off x="6701375" y="3014222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grpFill/>
          </p:spPr>
          <p:style>
            <a:lnRef idx="2">
              <a:schemeClr val="accent4">
                <a:hueOff val="-3189121"/>
                <a:satOff val="19214"/>
                <a:lumOff val="154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300" kern="1200" dirty="0">
                <a:solidFill>
                  <a:srgbClr val="5185BD"/>
                </a:solidFill>
                <a:latin typeface="Sitka Text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EEE438B-58C7-4509-F61F-86DDF6D445A7}"/>
                </a:ext>
              </a:extLst>
            </p:cNvPr>
            <p:cNvSpPr/>
            <p:nvPr/>
          </p:nvSpPr>
          <p:spPr>
            <a:xfrm>
              <a:off x="6701375" y="4116720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grpFill/>
          </p:spPr>
          <p:style>
            <a:lnRef idx="2">
              <a:schemeClr val="accent4">
                <a:hueOff val="-3826945"/>
                <a:satOff val="23056"/>
                <a:lumOff val="1848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300" kern="1200" dirty="0">
                <a:solidFill>
                  <a:srgbClr val="5185BD"/>
                </a:solidFill>
                <a:latin typeface="Sitka Text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8A966F3-3CDD-DAA8-CBD4-5C6D7D497734}"/>
                </a:ext>
              </a:extLst>
            </p:cNvPr>
            <p:cNvSpPr/>
            <p:nvPr/>
          </p:nvSpPr>
          <p:spPr>
            <a:xfrm>
              <a:off x="6701375" y="5219218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grpFill/>
          </p:spPr>
          <p:style>
            <a:lnRef idx="2">
              <a:schemeClr val="accent4">
                <a:hueOff val="-4464770"/>
                <a:satOff val="26899"/>
                <a:lumOff val="2156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300" kern="1200" dirty="0">
                <a:solidFill>
                  <a:srgbClr val="5185BD"/>
                </a:solidFill>
                <a:latin typeface="Sitka Text" pitchFamily="2" charset="0"/>
              </a:endParaRPr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C0AC822-DFCF-2A60-C6F8-E43CF26ECB88}"/>
              </a:ext>
            </a:extLst>
          </p:cNvPr>
          <p:cNvSpPr/>
          <p:nvPr/>
        </p:nvSpPr>
        <p:spPr>
          <a:xfrm>
            <a:off x="6671089" y="1610714"/>
            <a:ext cx="383710" cy="70969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709695"/>
                </a:lnTo>
                <a:lnTo>
                  <a:pt x="198280" y="709695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F077CF2-F6E5-5A92-E903-9170DB1706E6}"/>
              </a:ext>
            </a:extLst>
          </p:cNvPr>
          <p:cNvSpPr/>
          <p:nvPr/>
        </p:nvSpPr>
        <p:spPr>
          <a:xfrm>
            <a:off x="6662281" y="1568610"/>
            <a:ext cx="383710" cy="186039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860390"/>
                </a:lnTo>
                <a:lnTo>
                  <a:pt x="198280" y="1860390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415" name="Rectangle: Single Corner Snipped 17414">
            <a:extLst>
              <a:ext uri="{FF2B5EF4-FFF2-40B4-BE49-F238E27FC236}">
                <a16:creationId xmlns:a16="http://schemas.microsoft.com/office/drawing/2014/main" id="{F879EB24-0196-AB70-E2D5-EB932941BF48}"/>
              </a:ext>
            </a:extLst>
          </p:cNvPr>
          <p:cNvSpPr/>
          <p:nvPr/>
        </p:nvSpPr>
        <p:spPr>
          <a:xfrm>
            <a:off x="129085" y="619432"/>
            <a:ext cx="5913570" cy="5614494"/>
          </a:xfrm>
          <a:prstGeom prst="snip1Rect">
            <a:avLst>
              <a:gd name="adj" fmla="val 17543"/>
            </a:avLst>
          </a:prstGeom>
          <a:blipFill>
            <a:blip r:embed="rId3"/>
            <a:tile tx="0" ty="0" sx="100000" sy="100000" flip="none" algn="tl"/>
          </a:blipFill>
          <a:ln>
            <a:solidFill>
              <a:srgbClr val="96B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044FA3B-D713-193E-5EC9-E3D75C302D40}"/>
              </a:ext>
            </a:extLst>
          </p:cNvPr>
          <p:cNvSpPr/>
          <p:nvPr/>
        </p:nvSpPr>
        <p:spPr>
          <a:xfrm>
            <a:off x="6678492" y="1700272"/>
            <a:ext cx="383710" cy="296288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962888"/>
                </a:lnTo>
                <a:lnTo>
                  <a:pt x="198280" y="2962888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7414" name="Group 17413">
            <a:extLst>
              <a:ext uri="{FF2B5EF4-FFF2-40B4-BE49-F238E27FC236}">
                <a16:creationId xmlns:a16="http://schemas.microsoft.com/office/drawing/2014/main" id="{F37DD2F5-EAD3-5BB4-E759-675152BB9EA8}"/>
              </a:ext>
            </a:extLst>
          </p:cNvPr>
          <p:cNvGrpSpPr/>
          <p:nvPr/>
        </p:nvGrpSpPr>
        <p:grpSpPr>
          <a:xfrm>
            <a:off x="147485" y="785521"/>
            <a:ext cx="12541018" cy="5331386"/>
            <a:chOff x="147485" y="785521"/>
            <a:chExt cx="12541018" cy="533138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CEF5A87-144A-382C-46E4-3878D64379FB}"/>
                </a:ext>
              </a:extLst>
            </p:cNvPr>
            <p:cNvSpPr/>
            <p:nvPr/>
          </p:nvSpPr>
          <p:spPr>
            <a:xfrm>
              <a:off x="531328" y="1595986"/>
              <a:ext cx="383843" cy="402445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4024457"/>
                  </a:lnTo>
                  <a:lnTo>
                    <a:pt x="198349" y="4024457"/>
                  </a:lnTo>
                </a:path>
              </a:pathLst>
            </a:custGeom>
            <a:noFill/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DCDA19-F73E-ACE6-46A8-B69CB0D3CFB4}"/>
                </a:ext>
              </a:extLst>
            </p:cNvPr>
            <p:cNvSpPr/>
            <p:nvPr/>
          </p:nvSpPr>
          <p:spPr>
            <a:xfrm>
              <a:off x="147485" y="857286"/>
              <a:ext cx="4836495" cy="738700"/>
            </a:xfrm>
            <a:custGeom>
              <a:avLst/>
              <a:gdLst>
                <a:gd name="csX0" fmla="*/ 0 w 1983490"/>
                <a:gd name="csY0" fmla="*/ 73870 h 738700"/>
                <a:gd name="csX1" fmla="*/ 73870 w 1983490"/>
                <a:gd name="csY1" fmla="*/ 0 h 738700"/>
                <a:gd name="csX2" fmla="*/ 1909620 w 1983490"/>
                <a:gd name="csY2" fmla="*/ 0 h 738700"/>
                <a:gd name="csX3" fmla="*/ 1983490 w 1983490"/>
                <a:gd name="csY3" fmla="*/ 73870 h 738700"/>
                <a:gd name="csX4" fmla="*/ 1983490 w 1983490"/>
                <a:gd name="csY4" fmla="*/ 664830 h 738700"/>
                <a:gd name="csX5" fmla="*/ 1909620 w 1983490"/>
                <a:gd name="csY5" fmla="*/ 738700 h 738700"/>
                <a:gd name="csX6" fmla="*/ 73870 w 1983490"/>
                <a:gd name="csY6" fmla="*/ 738700 h 738700"/>
                <a:gd name="csX7" fmla="*/ 0 w 1983490"/>
                <a:gd name="csY7" fmla="*/ 664830 h 738700"/>
                <a:gd name="csX8" fmla="*/ 0 w 1983490"/>
                <a:gd name="csY8" fmla="*/ 73870 h 738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83490" h="738700">
                  <a:moveTo>
                    <a:pt x="0" y="73870"/>
                  </a:moveTo>
                  <a:cubicBezTo>
                    <a:pt x="0" y="33073"/>
                    <a:pt x="33073" y="0"/>
                    <a:pt x="73870" y="0"/>
                  </a:cubicBezTo>
                  <a:lnTo>
                    <a:pt x="1909620" y="0"/>
                  </a:lnTo>
                  <a:cubicBezTo>
                    <a:pt x="1950417" y="0"/>
                    <a:pt x="1983490" y="33073"/>
                    <a:pt x="1983490" y="73870"/>
                  </a:cubicBezTo>
                  <a:lnTo>
                    <a:pt x="1983490" y="664830"/>
                  </a:lnTo>
                  <a:cubicBezTo>
                    <a:pt x="1983490" y="705627"/>
                    <a:pt x="1950417" y="738700"/>
                    <a:pt x="1909620" y="738700"/>
                  </a:cubicBezTo>
                  <a:lnTo>
                    <a:pt x="73870" y="738700"/>
                  </a:lnTo>
                  <a:cubicBezTo>
                    <a:pt x="33073" y="738700"/>
                    <a:pt x="0" y="705627"/>
                    <a:pt x="0" y="664830"/>
                  </a:cubicBezTo>
                  <a:lnTo>
                    <a:pt x="0" y="7387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5926" tIns="44496" rIns="55926" bIns="44496" numCol="1" spcCol="1270" anchor="ctr" anchorCtr="0">
              <a:noAutofit/>
            </a:bodyPr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dirty="0">
                  <a:solidFill>
                    <a:srgbClr val="FFFF00"/>
                  </a:solidFill>
                  <a:latin typeface="Sitka Text" pitchFamily="2" charset="0"/>
                </a:rPr>
                <a:t>Potential Impact on the Target Audience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7B11D2A-152C-C765-8163-D86A874381C6}"/>
                </a:ext>
              </a:extLst>
            </p:cNvPr>
            <p:cNvSpPr/>
            <p:nvPr/>
          </p:nvSpPr>
          <p:spPr>
            <a:xfrm>
              <a:off x="915172" y="2928615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solidFill>
              <a:srgbClr val="685DAB">
                <a:alpha val="50196"/>
              </a:srgbClr>
            </a:solidFill>
          </p:spPr>
          <p:style>
            <a:lnRef idx="2">
              <a:schemeClr val="accent4">
                <a:hueOff val="-637824"/>
                <a:satOff val="3843"/>
                <a:lumOff val="308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lvl="0"/>
              <a:r>
                <a:rPr b="1" sz="1600"/>
                <a:t>For Victims of Atrocities: </a:t>
              </a:r>
              <a:r>
                <a:rPr b="0" sz="1600"/>
                <a:t>Ensures continuous psychological safety net, trauma tracking, and immediate crisis protection under SC/ST Act 1989.</a:t>
              </a: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887F285-83F9-0DA7-5904-AFB23FE7FB51}"/>
                </a:ext>
              </a:extLst>
            </p:cNvPr>
            <p:cNvSpPr/>
            <p:nvPr/>
          </p:nvSpPr>
          <p:spPr>
            <a:xfrm>
              <a:off x="915172" y="1816486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solidFill>
              <a:srgbClr val="685DAB">
                <a:alpha val="50196"/>
              </a:srgbClr>
            </a:solidFill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lvl="0"/>
              <a:r>
                <a:rPr b="1" sz="1600"/>
                <a:t>For Witnesses &amp; Families: </a:t>
              </a:r>
              <a:r>
                <a:rPr b="0" sz="1600"/>
                <a:t>Provides confidential communication channels, witness protection alerts, and legal/financial guidance.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A5F853C-D9D3-ED18-518E-8C2C3514B1EC}"/>
                </a:ext>
              </a:extLst>
            </p:cNvPr>
            <p:cNvSpPr/>
            <p:nvPr/>
          </p:nvSpPr>
          <p:spPr>
            <a:xfrm>
              <a:off x="531328" y="1595986"/>
              <a:ext cx="383843" cy="286649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866494"/>
                  </a:lnTo>
                  <a:lnTo>
                    <a:pt x="198349" y="2866494"/>
                  </a:lnTo>
                </a:path>
              </a:pathLst>
            </a:custGeom>
            <a:noFill/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980D3-BFD1-F760-7969-828725C7C318}"/>
                </a:ext>
              </a:extLst>
            </p:cNvPr>
            <p:cNvSpPr/>
            <p:nvPr/>
          </p:nvSpPr>
          <p:spPr>
            <a:xfrm>
              <a:off x="915172" y="4021482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solidFill>
              <a:srgbClr val="685DAB">
                <a:alpha val="50196"/>
              </a:srgbClr>
            </a:solidFill>
          </p:spPr>
          <p:style>
            <a:lnRef idx="2">
              <a:schemeClr val="accent4">
                <a:hueOff val="-1275649"/>
                <a:satOff val="7685"/>
                <a:lumOff val="616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lvl="0"/>
              <a:r>
                <a:rPr b="1" sz="1600"/>
                <a:t>For Counsellors &amp; Officers: </a:t>
              </a:r>
              <a:r>
                <a:rPr b="0" sz="1600"/>
                <a:t>Offers prioritized high-risk case queues, longitudinal distress trends, and actionable intervention recommendations.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2CA4ECF-1FED-CB71-9BC9-6B826BBC5894}"/>
                </a:ext>
              </a:extLst>
            </p:cNvPr>
            <p:cNvSpPr/>
            <p:nvPr/>
          </p:nvSpPr>
          <p:spPr>
            <a:xfrm>
              <a:off x="915171" y="5123980"/>
              <a:ext cx="4932785" cy="992927"/>
            </a:xfrm>
            <a:custGeom>
              <a:avLst/>
              <a:gdLst>
                <a:gd name="csX0" fmla="*/ 0 w 2548989"/>
                <a:gd name="csY0" fmla="*/ 99293 h 992927"/>
                <a:gd name="csX1" fmla="*/ 99293 w 2548989"/>
                <a:gd name="csY1" fmla="*/ 0 h 992927"/>
                <a:gd name="csX2" fmla="*/ 2449696 w 2548989"/>
                <a:gd name="csY2" fmla="*/ 0 h 992927"/>
                <a:gd name="csX3" fmla="*/ 2548989 w 2548989"/>
                <a:gd name="csY3" fmla="*/ 99293 h 992927"/>
                <a:gd name="csX4" fmla="*/ 2548989 w 2548989"/>
                <a:gd name="csY4" fmla="*/ 893634 h 992927"/>
                <a:gd name="csX5" fmla="*/ 2449696 w 2548989"/>
                <a:gd name="csY5" fmla="*/ 992927 h 992927"/>
                <a:gd name="csX6" fmla="*/ 99293 w 2548989"/>
                <a:gd name="csY6" fmla="*/ 992927 h 992927"/>
                <a:gd name="csX7" fmla="*/ 0 w 2548989"/>
                <a:gd name="csY7" fmla="*/ 893634 h 992927"/>
                <a:gd name="csX8" fmla="*/ 0 w 2548989"/>
                <a:gd name="csY8" fmla="*/ 99293 h 992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992927">
                  <a:moveTo>
                    <a:pt x="0" y="99293"/>
                  </a:moveTo>
                  <a:cubicBezTo>
                    <a:pt x="0" y="44455"/>
                    <a:pt x="44455" y="0"/>
                    <a:pt x="99293" y="0"/>
                  </a:cubicBezTo>
                  <a:lnTo>
                    <a:pt x="2449696" y="0"/>
                  </a:lnTo>
                  <a:cubicBezTo>
                    <a:pt x="2504534" y="0"/>
                    <a:pt x="2548989" y="44455"/>
                    <a:pt x="2548989" y="99293"/>
                  </a:cubicBezTo>
                  <a:lnTo>
                    <a:pt x="2548989" y="893634"/>
                  </a:lnTo>
                  <a:cubicBezTo>
                    <a:pt x="2548989" y="948472"/>
                    <a:pt x="2504534" y="992927"/>
                    <a:pt x="2449696" y="992927"/>
                  </a:cubicBezTo>
                  <a:lnTo>
                    <a:pt x="99293" y="992927"/>
                  </a:lnTo>
                  <a:cubicBezTo>
                    <a:pt x="44455" y="992927"/>
                    <a:pt x="0" y="948472"/>
                    <a:pt x="0" y="893634"/>
                  </a:cubicBezTo>
                  <a:lnTo>
                    <a:pt x="0" y="99293"/>
                  </a:lnTo>
                  <a:close/>
                </a:path>
              </a:pathLst>
            </a:custGeom>
            <a:solidFill>
              <a:srgbClr val="685DAB">
                <a:alpha val="50196"/>
              </a:srgbClr>
            </a:solidFill>
          </p:spPr>
          <p:style>
            <a:lnRef idx="2">
              <a:schemeClr val="accent4">
                <a:hueOff val="-1913473"/>
                <a:satOff val="11528"/>
                <a:lumOff val="924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847" tIns="45592" rIns="53847" bIns="45592" numCol="1" spcCol="1270" anchor="ctr" anchorCtr="0">
              <a:noAutofit/>
            </a:bodyPr>
            <a:lstStyle/>
            <a:p>
              <a:pPr lvl="0"/>
              <a:r>
                <a:rPr b="1" sz="1600"/>
                <a:t>For District &amp; MoSJE Authorities: </a:t>
              </a:r>
              <a:r>
                <a:rPr b="0" sz="1600"/>
                <a:t>Delivers real-time State and National dashboards for evidence-based policy making and multi-agency coordination.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6B5404C-3F74-8607-D6FC-0BE0B5C2F718}"/>
                </a:ext>
              </a:extLst>
            </p:cNvPr>
            <p:cNvGrpSpPr/>
            <p:nvPr/>
          </p:nvGrpSpPr>
          <p:grpSpPr>
            <a:xfrm>
              <a:off x="6282974" y="785521"/>
              <a:ext cx="6405529" cy="5217559"/>
              <a:chOff x="5933953" y="857286"/>
              <a:chExt cx="6405529" cy="5217559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03EE29C-8D58-7BF6-4A28-19DA80487FE1}"/>
                  </a:ext>
                </a:extLst>
              </p:cNvPr>
              <p:cNvSpPr/>
              <p:nvPr/>
            </p:nvSpPr>
            <p:spPr>
              <a:xfrm>
                <a:off x="5933953" y="857286"/>
                <a:ext cx="4360096" cy="737544"/>
              </a:xfrm>
              <a:custGeom>
                <a:avLst/>
                <a:gdLst>
                  <a:gd name="csX0" fmla="*/ 0 w 1982802"/>
                  <a:gd name="csY0" fmla="*/ 73754 h 737544"/>
                  <a:gd name="csX1" fmla="*/ 73754 w 1982802"/>
                  <a:gd name="csY1" fmla="*/ 0 h 737544"/>
                  <a:gd name="csX2" fmla="*/ 1909048 w 1982802"/>
                  <a:gd name="csY2" fmla="*/ 0 h 737544"/>
                  <a:gd name="csX3" fmla="*/ 1982802 w 1982802"/>
                  <a:gd name="csY3" fmla="*/ 73754 h 737544"/>
                  <a:gd name="csX4" fmla="*/ 1982802 w 1982802"/>
                  <a:gd name="csY4" fmla="*/ 663790 h 737544"/>
                  <a:gd name="csX5" fmla="*/ 1909048 w 1982802"/>
                  <a:gd name="csY5" fmla="*/ 737544 h 737544"/>
                  <a:gd name="csX6" fmla="*/ 73754 w 1982802"/>
                  <a:gd name="csY6" fmla="*/ 737544 h 737544"/>
                  <a:gd name="csX7" fmla="*/ 0 w 1982802"/>
                  <a:gd name="csY7" fmla="*/ 663790 h 737544"/>
                  <a:gd name="csX8" fmla="*/ 0 w 1982802"/>
                  <a:gd name="csY8" fmla="*/ 73754 h 7375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982802" h="737544">
                    <a:moveTo>
                      <a:pt x="0" y="73754"/>
                    </a:moveTo>
                    <a:cubicBezTo>
                      <a:pt x="0" y="33021"/>
                      <a:pt x="33021" y="0"/>
                      <a:pt x="73754" y="0"/>
                    </a:cubicBezTo>
                    <a:lnTo>
                      <a:pt x="1909048" y="0"/>
                    </a:lnTo>
                    <a:cubicBezTo>
                      <a:pt x="1949781" y="0"/>
                      <a:pt x="1982802" y="33021"/>
                      <a:pt x="1982802" y="73754"/>
                    </a:cubicBezTo>
                    <a:lnTo>
                      <a:pt x="1982802" y="663790"/>
                    </a:lnTo>
                    <a:cubicBezTo>
                      <a:pt x="1982802" y="704523"/>
                      <a:pt x="1949781" y="737544"/>
                      <a:pt x="1909048" y="737544"/>
                    </a:cubicBezTo>
                    <a:lnTo>
                      <a:pt x="73754" y="737544"/>
                    </a:lnTo>
                    <a:cubicBezTo>
                      <a:pt x="33021" y="737544"/>
                      <a:pt x="0" y="704523"/>
                      <a:pt x="0" y="663790"/>
                    </a:cubicBezTo>
                    <a:lnTo>
                      <a:pt x="0" y="73754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-4464770"/>
                  <a:satOff val="26899"/>
                  <a:lumOff val="2156"/>
                  <a:alphaOff val="0"/>
                </a:schemeClr>
              </a:fillRef>
              <a:effectRef idx="0">
                <a:schemeClr val="accent4">
                  <a:hueOff val="-4464770"/>
                  <a:satOff val="26899"/>
                  <a:lumOff val="2156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5892" tIns="44462" rIns="55892" bIns="44462" numCol="1" spcCol="1270" anchor="ctr" anchorCtr="0">
                <a:noAutofit/>
              </a:bodyPr>
              <a:lstStyle/>
              <a:p>
                <a:pPr marL="0" lvl="0" indent="0" algn="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800" u="none" kern="1200" dirty="0">
                  <a:latin typeface="Sitka Text" pitchFamily="2" charset="0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FF1019E6-BCAA-48F0-A861-7E54EB9E233A}"/>
                  </a:ext>
                </a:extLst>
              </p:cNvPr>
              <p:cNvSpPr/>
              <p:nvPr/>
            </p:nvSpPr>
            <p:spPr>
              <a:xfrm>
                <a:off x="6317664" y="1594831"/>
                <a:ext cx="383710" cy="4065386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4065386"/>
                    </a:lnTo>
                    <a:lnTo>
                      <a:pt x="198280" y="4065386"/>
                    </a:lnTo>
                  </a:path>
                </a:pathLst>
              </a:custGeom>
              <a:noFill/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4">
                  <a:tint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0BFD1F-2E2B-7B92-2A3E-A2334A71463C}"/>
                  </a:ext>
                </a:extLst>
              </p:cNvPr>
              <p:cNvSpPr txBox="1"/>
              <p:nvPr/>
            </p:nvSpPr>
            <p:spPr>
              <a:xfrm>
                <a:off x="6092342" y="1021842"/>
                <a:ext cx="62471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indent="-285750" algn="l">
                  <a:spcBef>
                    <a:spcPts val="9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v"/>
                </a:pPr>
                <a:r>
                  <a:rPr lang="en-IN" sz="1800" b="0" i="0" dirty="0">
                    <a:solidFill>
                      <a:srgbClr val="FFFF00"/>
                    </a:solidFill>
                    <a:effectLst/>
                    <a:latin typeface="Sitka Text" pitchFamily="2" charset="0"/>
                  </a:rPr>
                  <a:t>Benefits of the Proposed Solution</a:t>
                </a:r>
                <a:endParaRPr lang="en-IN" sz="1200" b="0" i="0" dirty="0">
                  <a:solidFill>
                    <a:srgbClr val="FFFF00"/>
                  </a:solidFill>
                  <a:effectLst/>
                  <a:latin typeface="Sitka Text" pitchFamily="2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922F4D-937E-707E-0B6A-7A125AE8BED4}"/>
                  </a:ext>
                </a:extLst>
              </p:cNvPr>
              <p:cNvSpPr txBox="1"/>
              <p:nvPr/>
            </p:nvSpPr>
            <p:spPr>
              <a:xfrm>
                <a:off x="6690297" y="1775252"/>
                <a:ext cx="5147741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/>
                <a:r>
                  <a:rPr b="1" sz="1600">
                    <a:latin typeface="Calibri"/>
                  </a:rPr>
                  <a:t>Social (Justice &amp; Equity): </a:t>
                </a:r>
                <a:r>
                  <a:rPr b="0" sz="1600">
                    <a:latin typeface="Calibri"/>
                  </a:rPr>
                  <a:t>Restores victim confidence in the justice delivery system and prevents psychological breakdown during trial proceedings.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0074DAD-C007-9884-E57F-09242D45F438}"/>
                  </a:ext>
                </a:extLst>
              </p:cNvPr>
              <p:cNvSpPr txBox="1"/>
              <p:nvPr/>
            </p:nvSpPr>
            <p:spPr>
              <a:xfrm>
                <a:off x="6690298" y="3052009"/>
                <a:ext cx="506908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b="1" sz="1600"/>
                  <a:t>Economic (Resource Allocation): </a:t>
                </a:r>
                <a:r>
                  <a:rPr b="0" sz="1600"/>
                  <a:t>Optimizes welfare funds, counselling deployment, and rehabilitation support to cases with highest escalation velocity.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BE249E0-4E89-4498-CD6B-446B51CA14A4}"/>
                  </a:ext>
                </a:extLst>
              </p:cNvPr>
              <p:cNvSpPr txBox="1"/>
              <p:nvPr/>
            </p:nvSpPr>
            <p:spPr>
              <a:xfrm>
                <a:off x="6690297" y="4130635"/>
                <a:ext cx="506908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b="1" sz="1600"/>
                  <a:t>Victim Welfare: </a:t>
                </a:r>
                <a:r>
                  <a:rPr b="0" sz="1600"/>
                  <a:t>Early crisis detection prevents severe PTSD escalation, depression, trauma, and self-harm.</a:t>
                </a:r>
              </a:p>
              <a:p>
                <a:pPr marR="0" lvl="0" algn="l"/>
                <a:r>
                  <a:rPr lang="en-IN" sz="1600" b="0" i="0" dirty="0"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.</a:t>
                </a:r>
                <a:endParaRPr lang="en-IN" sz="1000" b="0" i="0" dirty="0">
                  <a:solidFill>
                    <a:srgbClr val="CCCCCC"/>
                  </a:solidFill>
                  <a:effectLst/>
                  <a:latin typeface="system-ui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3E89494-C546-BCC1-AD0C-CC1B187ECE28}"/>
                  </a:ext>
                </a:extLst>
              </p:cNvPr>
              <p:cNvSpPr txBox="1"/>
              <p:nvPr/>
            </p:nvSpPr>
            <p:spPr>
              <a:xfrm>
                <a:off x="6617770" y="5243848"/>
                <a:ext cx="506908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b="1" sz="1600">
                    <a:latin typeface="Calibri"/>
                  </a:rPr>
                  <a:t>Systemic Coordination: </a:t>
                </a:r>
                <a:r>
                  <a:rPr b="0" sz="1600">
                    <a:latin typeface="Calibri"/>
                  </a:rPr>
                  <a:t>Unifies welfare departments, law enforcement, legal aid authorities, and health agencies into one emergency response network.</a:t>
                </a:r>
                <a:endParaRPr lang="en-IN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D2F611C-35DC-F8DB-C9B0-27AF1476A5C1}"/>
                </a:ext>
              </a:extLst>
            </p:cNvPr>
            <p:cNvGrpSpPr/>
            <p:nvPr/>
          </p:nvGrpSpPr>
          <p:grpSpPr>
            <a:xfrm>
              <a:off x="168430" y="1875495"/>
              <a:ext cx="801377" cy="4107496"/>
              <a:chOff x="0" y="1772699"/>
              <a:chExt cx="1017164" cy="4918834"/>
            </a:xfrm>
          </p:grpSpPr>
          <p:pic>
            <p:nvPicPr>
              <p:cNvPr id="47" name="Graphic 46" descr="Group with solid fill">
                <a:extLst>
                  <a:ext uri="{FF2B5EF4-FFF2-40B4-BE49-F238E27FC236}">
                    <a16:creationId xmlns:a16="http://schemas.microsoft.com/office/drawing/2014/main" id="{012F45EA-AD2C-A786-9564-6563C55944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177269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9" name="Graphic 48" descr="Medicine with solid fill">
                <a:extLst>
                  <a:ext uri="{FF2B5EF4-FFF2-40B4-BE49-F238E27FC236}">
                    <a16:creationId xmlns:a16="http://schemas.microsoft.com/office/drawing/2014/main" id="{110A9FA2-5CF6-F231-9341-B111CA3B7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3417" y="312659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1" name="Graphic 50" descr="Stethoscope with solid fill">
                <a:extLst>
                  <a:ext uri="{FF2B5EF4-FFF2-40B4-BE49-F238E27FC236}">
                    <a16:creationId xmlns:a16="http://schemas.microsoft.com/office/drawing/2014/main" id="{64E75CCD-7072-3123-F75D-696D13D0AF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2764" y="4465914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3" name="Graphic 52" descr="Medical with solid fill">
                <a:extLst>
                  <a:ext uri="{FF2B5EF4-FFF2-40B4-BE49-F238E27FC236}">
                    <a16:creationId xmlns:a16="http://schemas.microsoft.com/office/drawing/2014/main" id="{FEF65B66-7668-BE73-7F6D-1E199CFD2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72" y="5777133"/>
                <a:ext cx="914400" cy="914400"/>
              </a:xfrm>
              <a:prstGeom prst="rect">
                <a:avLst/>
              </a:prstGeom>
            </p:spPr>
          </p:pic>
        </p:grpSp>
      </p:grpSp>
      <p:pic>
        <p:nvPicPr>
          <p:cNvPr id="60" name="Graphic 59" descr="Social network with solid fill">
            <a:extLst>
              <a:ext uri="{FF2B5EF4-FFF2-40B4-BE49-F238E27FC236}">
                <a16:creationId xmlns:a16="http://schemas.microsoft.com/office/drawing/2014/main" id="{9D9AB7E7-AF86-0781-2313-64A3FF7D8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2974" y="1871070"/>
            <a:ext cx="807146" cy="807146"/>
          </a:xfrm>
          <a:prstGeom prst="rect">
            <a:avLst/>
          </a:prstGeom>
        </p:spPr>
      </p:pic>
      <p:pic>
        <p:nvPicPr>
          <p:cNvPr id="62" name="Graphic 61" descr="Bank with solid fill">
            <a:extLst>
              <a:ext uri="{FF2B5EF4-FFF2-40B4-BE49-F238E27FC236}">
                <a16:creationId xmlns:a16="http://schemas.microsoft.com/office/drawing/2014/main" id="{7DEE5FB0-E64A-963B-94C6-79E16DC27D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0986" y="2996353"/>
            <a:ext cx="751216" cy="751216"/>
          </a:xfrm>
          <a:prstGeom prst="rect">
            <a:avLst/>
          </a:prstGeom>
        </p:spPr>
      </p:pic>
      <p:pic>
        <p:nvPicPr>
          <p:cNvPr id="17408" name="Graphic 17407" descr="Heart with pulse with solid fill">
            <a:extLst>
              <a:ext uri="{FF2B5EF4-FFF2-40B4-BE49-F238E27FC236}">
                <a16:creationId xmlns:a16="http://schemas.microsoft.com/office/drawing/2014/main" id="{A2629A3D-9F89-24E8-E99B-A93700DE2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6939" y="4181863"/>
            <a:ext cx="823105" cy="790228"/>
          </a:xfrm>
          <a:prstGeom prst="rect">
            <a:avLst/>
          </a:prstGeom>
        </p:spPr>
      </p:pic>
      <p:pic>
        <p:nvPicPr>
          <p:cNvPr id="17412" name="Graphic 17411" descr="Group brainstorm with solid fill">
            <a:extLst>
              <a:ext uri="{FF2B5EF4-FFF2-40B4-BE49-F238E27FC236}">
                <a16:creationId xmlns:a16="http://schemas.microsoft.com/office/drawing/2014/main" id="{13BE96C7-A083-42F1-4F50-6305E414D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2528" y="5025734"/>
            <a:ext cx="857121" cy="914400"/>
          </a:xfrm>
          <a:prstGeom prst="rect">
            <a:avLst/>
          </a:prstGeom>
        </p:spPr>
      </p:pic>
      <p:sp>
        <p:nvSpPr>
          <p:cNvPr id="17420" name="Oval 17419" descr="Your startup LOGO">
            <a:extLst>
              <a:ext uri="{FF2B5EF4-FFF2-40B4-BE49-F238E27FC236}">
                <a16:creationId xmlns:a16="http://schemas.microsoft.com/office/drawing/2014/main" id="{DBD9A3DB-250A-6069-968C-FE944BCFC1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3397" y="82754"/>
            <a:ext cx="1685840" cy="41584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Visioneers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74571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1500"/>
            <a:ext cx="2035036" cy="629825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41AA029-BD2A-0F37-82BF-8AA7D37F3B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3397" y="82754"/>
            <a:ext cx="1685840" cy="2965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Visioneers</a:t>
            </a:r>
            <a:endParaRPr lang="en-IN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9FDC77-427B-5886-F01B-A772BD3C1FD3}"/>
              </a:ext>
            </a:extLst>
          </p:cNvPr>
          <p:cNvSpPr txBox="1"/>
          <p:nvPr/>
        </p:nvSpPr>
        <p:spPr>
          <a:xfrm>
            <a:off x="102886" y="509633"/>
            <a:ext cx="7249249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500" b="1">
                <a:latin typeface="Times New Roman"/>
              </a:defRPr>
            </a:pPr>
            <a:r>
              <a:t>Academic Research Papers</a:t>
            </a:r>
          </a:p>
          <a:p>
            <a:pPr>
              <a:defRPr sz="1150">
                <a:latin typeface="Times New Roman"/>
              </a:defRPr>
            </a:pPr>
            <a:r>
              <a:t>M. Scherer et al., "Voice stress analytics and acoustic markers of psychological distress in trauma victims," IEEE Trans. Affective Computing, 2025.</a:t>
            </a:r>
          </a:p>
          <a:p>
            <a:pPr>
              <a:defRPr sz="1150">
                <a:latin typeface="Times New Roman"/>
              </a:defRPr>
            </a:pPr>
            <a:r>
              <a:t>A. Sharma et al., "Multilingual Emotion AI and sentiment analysis for Indian regional dialects," ACM Trans. Asian Lang. Info. Processing, 2026.</a:t>
            </a:r>
          </a:p>
          <a:p>
            <a:pPr>
              <a:defRPr sz="1150">
                <a:latin typeface="Times New Roman"/>
              </a:defRPr>
            </a:pPr>
            <a:r>
              <a:t>R. Kumar et al., "Predictive risk modeling and longitudinal distress trajectory scoring," J. Biomed. Inform., vol. 140, 2025.</a:t>
            </a:r>
          </a:p>
          <a:p>
            <a:pPr>
              <a:defRPr sz="1150">
                <a:latin typeface="Times New Roman"/>
              </a:defRPr>
            </a:pPr>
            <a:r>
              <a:t>S. Gupta et al., "Explainable AI (XAI) using SHAP and LIME for clinical decision support," Comput. Biol. Med., 2026.</a:t>
            </a:r>
          </a:p>
          <a:p>
            <a:br/>
            <a:pPr>
              <a:defRPr sz="1500" b="1">
                <a:latin typeface="Times New Roman"/>
              </a:defRPr>
            </a:pPr>
            <a:r>
              <a:t>Clinical Datasets &amp; Legal Frameworks:</a:t>
            </a:r>
          </a:p>
          <a:p>
            <a:r>
              <a:rPr sz="1150" b="1">
                <a:latin typeface="Times New Roman"/>
              </a:rPr>
              <a:t>RAVDESS &amp; EMO-DB</a:t>
            </a:r>
            <a:r>
              <a:rPr sz="1150" b="0">
                <a:latin typeface="Times New Roman"/>
              </a:rPr>
              <a:t> (Voice Stress &amp; Emotional Speech Benchmarks)</a:t>
            </a:r>
          </a:p>
          <a:p>
            <a:r>
              <a:rPr sz="1150" b="1">
                <a:latin typeface="Times New Roman"/>
              </a:rPr>
              <a:t>DAIC-WOZ Benchmark</a:t>
            </a:r>
            <a:r>
              <a:rPr sz="1150" b="0">
                <a:latin typeface="Times New Roman"/>
              </a:rPr>
              <a:t> (Clinical Distress &amp; Depression Assessment Dataset)</a:t>
            </a:r>
          </a:p>
          <a:p>
            <a:r>
              <a:rPr sz="1150" b="1">
                <a:latin typeface="Times New Roman"/>
              </a:rPr>
              <a:t>IndicNLP &amp; DravidianCodeMix</a:t>
            </a:r>
            <a:r>
              <a:rPr sz="1150" b="0">
                <a:latin typeface="Times New Roman"/>
              </a:rPr>
              <a:t> (Multilingual Indian Regional Language Datasets)</a:t>
            </a:r>
          </a:p>
          <a:p>
            <a:r>
              <a:rPr sz="1150" b="1">
                <a:latin typeface="Times New Roman"/>
              </a:rPr>
              <a:t>SC/ST Act 1989 &amp; NHAA 14566</a:t>
            </a:r>
            <a:r>
              <a:rPr sz="1150" b="0">
                <a:latin typeface="Times New Roman"/>
              </a:rPr>
              <a:t> (Prevention of Atrocities Guidelines &amp; Helpline)</a:t>
            </a:r>
          </a:p>
        </p:txBody>
      </p:sp>
      <p:pic>
        <p:nvPicPr>
          <p:cNvPr id="17410" name="Picture 17409" descr="slide6_diagra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2135" y="631325"/>
            <a:ext cx="4543453" cy="567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8361</TotalTime>
  <Words>1266</Words>
  <Application>Microsoft Office PowerPoint</Application>
  <PresentationFormat>Widescreen</PresentationFormat>
  <Paragraphs>124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Sitka Text</vt:lpstr>
      <vt:lpstr>system-ui</vt:lpstr>
      <vt:lpstr>Times New Roman</vt:lpstr>
      <vt:lpstr>TradeGothic</vt:lpstr>
      <vt:lpstr>Wingdings</vt:lpstr>
      <vt:lpstr>Office Theme</vt:lpstr>
      <vt:lpstr>SMART INDIA HACKATHON 2026</vt:lpstr>
      <vt:lpstr> DrishtiRakshak.Ai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Sahil Shinde</cp:lastModifiedBy>
  <cp:revision>225</cp:revision>
  <dcterms:created xsi:type="dcterms:W3CDTF">2013-12-12T18:46:50Z</dcterms:created>
  <dcterms:modified xsi:type="dcterms:W3CDTF">2026-09-10T13:06:24Z</dcterms:modified>
  <cp:category/>
</cp:coreProperties>
</file>